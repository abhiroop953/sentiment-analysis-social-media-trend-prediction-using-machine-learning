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3" name="Google Shape;13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 name="Google Shape;14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5" name="Google Shape;18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 name="Google Shape;19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 name="Google Shape;20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14" name="Google Shape;21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19" name="Google Shape;219;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8" name="Google Shape;2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p:nvPr/>
        </p:nvSpPr>
        <p:spPr>
          <a:xfrm>
            <a:off x="1101011" y="479331"/>
            <a:ext cx="10170300" cy="5641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Department of Computer Science and Engineering - Data Science</a:t>
            </a:r>
            <a:endParaRPr sz="2400" b="1"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DECODING THE SOCIAL MEDIA LANDSCAPE: SENTIMENT, TRENDS, AND USER ENGAGEMENT ACROSS PLATFORMS</a:t>
            </a:r>
            <a:endParaRPr sz="2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Times New Roman"/>
                <a:ea typeface="Times New Roman"/>
                <a:cs typeface="Times New Roman"/>
                <a:sym typeface="Times New Roman"/>
              </a:rPr>
              <a:t>By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 A.Sreeja. -21N81A6711 </a:t>
            </a:r>
            <a:endParaRPr sz="20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E.Bhargavi- 21N81A6727 </a:t>
            </a:r>
            <a:endParaRPr sz="20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G.Abhiroop - 21N81A6745 </a:t>
            </a:r>
            <a:endParaRPr sz="20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B.Mukesh- 22N85A6703</a:t>
            </a:r>
            <a:endParaRPr sz="2000" b="1"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chemeClr val="dk1"/>
                </a:solidFill>
                <a:latin typeface="Times New Roman"/>
                <a:ea typeface="Times New Roman"/>
                <a:cs typeface="Times New Roman"/>
                <a:sym typeface="Times New Roman"/>
              </a:rPr>
              <a:t>Under the Supervision of</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Ms .G . Sushma, </a:t>
            </a:r>
            <a:r>
              <a:rPr lang="en-US" sz="1300" b="0" i="0" u="none" strike="noStrike" cap="none">
                <a:solidFill>
                  <a:schemeClr val="dk1"/>
                </a:solidFill>
                <a:latin typeface="Times New Roman"/>
                <a:ea typeface="Times New Roman"/>
                <a:cs typeface="Times New Roman"/>
                <a:sym typeface="Times New Roman"/>
              </a:rPr>
              <a:t>M.Tech</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Assistant Professor</a:t>
            </a:r>
            <a:endParaRPr sz="2000" b="1"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050"/>
              <a:buFont typeface="Arial"/>
              <a:buNone/>
            </a:pPr>
            <a:endParaRPr sz="1050" b="1" i="0" u="none" strike="noStrike" cap="none">
              <a:solidFill>
                <a:schemeClr val="dk1"/>
              </a:solidFill>
              <a:latin typeface="Times New Roman"/>
              <a:ea typeface="Times New Roman"/>
              <a:cs typeface="Times New Roman"/>
              <a:sym typeface="Times New Roman"/>
            </a:endParaRPr>
          </a:p>
        </p:txBody>
      </p:sp>
      <p:pic>
        <p:nvPicPr>
          <p:cNvPr id="89" name="Google Shape;89;p13"/>
          <p:cNvPicPr preferRelativeResize="0"/>
          <p:nvPr/>
        </p:nvPicPr>
        <p:blipFill rotWithShape="1">
          <a:blip r:embed="rId3">
            <a:alphaModFix/>
          </a:blip>
          <a:srcRect/>
          <a:stretch/>
        </p:blipFill>
        <p:spPr>
          <a:xfrm>
            <a:off x="2795295" y="120764"/>
            <a:ext cx="6781800" cy="13880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4"/>
          <p:cNvSpPr txBox="1">
            <a:spLocks noGrp="1"/>
          </p:cNvSpPr>
          <p:nvPr>
            <p:ph type="title"/>
          </p:nvPr>
        </p:nvSpPr>
        <p:spPr>
          <a:xfrm>
            <a:off x="838200" y="0"/>
            <a:ext cx="10309200" cy="10209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400"/>
              <a:buFont typeface="Times New Roman"/>
              <a:buNone/>
            </a:pPr>
            <a:r>
              <a:rPr lang="en-US" sz="2400" b="1">
                <a:latin typeface="Times New Roman"/>
                <a:ea typeface="Times New Roman"/>
                <a:cs typeface="Times New Roman"/>
                <a:sym typeface="Times New Roman"/>
              </a:rPr>
              <a:t>CONTENT</a:t>
            </a:r>
            <a:endParaRPr sz="2400" b="1">
              <a:latin typeface="Times New Roman"/>
              <a:ea typeface="Times New Roman"/>
              <a:cs typeface="Times New Roman"/>
              <a:sym typeface="Times New Roman"/>
            </a:endParaRPr>
          </a:p>
        </p:txBody>
      </p:sp>
      <p:sp>
        <p:nvSpPr>
          <p:cNvPr id="95" name="Google Shape;95;p14"/>
          <p:cNvSpPr txBox="1">
            <a:spLocks noGrp="1"/>
          </p:cNvSpPr>
          <p:nvPr>
            <p:ph type="body" idx="1"/>
          </p:nvPr>
        </p:nvSpPr>
        <p:spPr>
          <a:xfrm>
            <a:off x="669450" y="630000"/>
            <a:ext cx="10597800" cy="5976600"/>
          </a:xfrm>
          <a:prstGeom prst="rect">
            <a:avLst/>
          </a:prstGeom>
          <a:noFill/>
          <a:ln>
            <a:noFill/>
          </a:ln>
        </p:spPr>
        <p:txBody>
          <a:bodyPr spcFirstLastPara="1" wrap="square" lIns="91425" tIns="45700" rIns="91425" bIns="45700" anchor="t" anchorCtr="0">
            <a:noAutofit/>
          </a:bodyPr>
          <a:lstStyle/>
          <a:p>
            <a:pPr marL="457200" lvl="0" indent="-444500" algn="l" rtl="0">
              <a:lnSpc>
                <a:spcPct val="100000"/>
              </a:lnSpc>
              <a:spcBef>
                <a:spcPts val="0"/>
              </a:spcBef>
              <a:spcAft>
                <a:spcPts val="0"/>
              </a:spcAft>
              <a:buClr>
                <a:schemeClr val="dk1"/>
              </a:buClr>
              <a:buSzPts val="1800"/>
              <a:buFont typeface="Times New Roman"/>
              <a:buAutoNum type="arabicPeriod"/>
            </a:pPr>
            <a:r>
              <a:rPr lang="en-US" sz="1800">
                <a:latin typeface="Times New Roman"/>
                <a:ea typeface="Times New Roman"/>
                <a:cs typeface="Times New Roman"/>
                <a:sym typeface="Times New Roman"/>
              </a:rPr>
              <a:t>ABSTRACT</a:t>
            </a:r>
            <a:endParaRPr sz="2600"/>
          </a:p>
          <a:p>
            <a:pPr marL="457200" lvl="0" indent="-444500" algn="l" rtl="0">
              <a:lnSpc>
                <a:spcPct val="100000"/>
              </a:lnSpc>
              <a:spcBef>
                <a:spcPts val="1000"/>
              </a:spcBef>
              <a:spcAft>
                <a:spcPts val="0"/>
              </a:spcAft>
              <a:buClr>
                <a:schemeClr val="dk1"/>
              </a:buClr>
              <a:buSzPts val="1800"/>
              <a:buFont typeface="Times New Roman"/>
              <a:buAutoNum type="arabicPeriod"/>
            </a:pPr>
            <a:r>
              <a:rPr lang="en-US" sz="1800">
                <a:latin typeface="Times New Roman"/>
                <a:ea typeface="Times New Roman"/>
                <a:cs typeface="Times New Roman"/>
                <a:sym typeface="Times New Roman"/>
              </a:rPr>
              <a:t>INTRODUCTION</a:t>
            </a:r>
            <a:endParaRPr sz="2600"/>
          </a:p>
          <a:p>
            <a:pPr marL="228600" lvl="0" indent="-228600" algn="l" rtl="0">
              <a:lnSpc>
                <a:spcPct val="100000"/>
              </a:lnSpc>
              <a:spcBef>
                <a:spcPts val="1000"/>
              </a:spcBef>
              <a:spcAft>
                <a:spcPts val="0"/>
              </a:spcAft>
              <a:buSzPts val="1800"/>
              <a:buFont typeface="Times New Roman"/>
              <a:buAutoNum type="arabicPeriod"/>
            </a:pPr>
            <a:r>
              <a:rPr lang="en-US" sz="1800">
                <a:latin typeface="Times New Roman"/>
                <a:ea typeface="Times New Roman"/>
                <a:cs typeface="Times New Roman"/>
                <a:sym typeface="Times New Roman"/>
              </a:rPr>
              <a:t>    LITERATURE SURVEY</a:t>
            </a:r>
            <a:endParaRPr sz="1800">
              <a:latin typeface="Times New Roman"/>
              <a:ea typeface="Times New Roman"/>
              <a:cs typeface="Times New Roman"/>
              <a:sym typeface="Times New Roman"/>
            </a:endParaRPr>
          </a:p>
          <a:p>
            <a:pPr marL="228600" lvl="0" indent="-228600" algn="l" rtl="0">
              <a:lnSpc>
                <a:spcPct val="100000"/>
              </a:lnSpc>
              <a:spcBef>
                <a:spcPts val="1000"/>
              </a:spcBef>
              <a:spcAft>
                <a:spcPts val="0"/>
              </a:spcAft>
              <a:buSzPts val="1800"/>
              <a:buFont typeface="Times New Roman"/>
              <a:buAutoNum type="arabicPeriod"/>
            </a:pPr>
            <a:r>
              <a:rPr lang="en-US" sz="1800">
                <a:latin typeface="Times New Roman"/>
                <a:ea typeface="Times New Roman"/>
                <a:cs typeface="Times New Roman"/>
                <a:sym typeface="Times New Roman"/>
              </a:rPr>
              <a:t>    PROBLEM STATEMENT</a:t>
            </a:r>
            <a:endParaRPr sz="1800">
              <a:latin typeface="Times New Roman"/>
              <a:ea typeface="Times New Roman"/>
              <a:cs typeface="Times New Roman"/>
              <a:sym typeface="Times New Roman"/>
            </a:endParaRPr>
          </a:p>
          <a:p>
            <a:pPr marL="457200" lvl="0" indent="-444500" algn="l" rtl="0">
              <a:lnSpc>
                <a:spcPct val="100000"/>
              </a:lnSpc>
              <a:spcBef>
                <a:spcPts val="1000"/>
              </a:spcBef>
              <a:spcAft>
                <a:spcPts val="0"/>
              </a:spcAft>
              <a:buClr>
                <a:schemeClr val="dk1"/>
              </a:buClr>
              <a:buSzPts val="1800"/>
              <a:buFont typeface="Times New Roman"/>
              <a:buAutoNum type="arabicPeriod"/>
            </a:pPr>
            <a:r>
              <a:rPr lang="en-US" sz="1800">
                <a:latin typeface="Times New Roman"/>
                <a:ea typeface="Times New Roman"/>
                <a:cs typeface="Times New Roman"/>
                <a:sym typeface="Times New Roman"/>
              </a:rPr>
              <a:t>EXISTING SYSTEM</a:t>
            </a:r>
            <a:endParaRPr sz="2600"/>
          </a:p>
          <a:p>
            <a:pPr marL="457200" lvl="0" indent="-444500" algn="l" rtl="0">
              <a:lnSpc>
                <a:spcPct val="100000"/>
              </a:lnSpc>
              <a:spcBef>
                <a:spcPts val="1000"/>
              </a:spcBef>
              <a:spcAft>
                <a:spcPts val="0"/>
              </a:spcAft>
              <a:buClr>
                <a:schemeClr val="dk1"/>
              </a:buClr>
              <a:buSzPts val="1800"/>
              <a:buFont typeface="Times New Roman"/>
              <a:buAutoNum type="arabicPeriod"/>
            </a:pPr>
            <a:r>
              <a:rPr lang="en-US" sz="1800">
                <a:latin typeface="Times New Roman"/>
                <a:ea typeface="Times New Roman"/>
                <a:cs typeface="Times New Roman"/>
                <a:sym typeface="Times New Roman"/>
              </a:rPr>
              <a:t>PROPOSED SYSTEM</a:t>
            </a:r>
            <a:endParaRPr sz="2600"/>
          </a:p>
          <a:p>
            <a:pPr marL="228600" lvl="0" indent="-228600" algn="l" rtl="0">
              <a:lnSpc>
                <a:spcPct val="100000"/>
              </a:lnSpc>
              <a:spcBef>
                <a:spcPts val="1000"/>
              </a:spcBef>
              <a:spcAft>
                <a:spcPts val="0"/>
              </a:spcAft>
              <a:buSzPts val="1800"/>
              <a:buFont typeface="Times New Roman"/>
              <a:buAutoNum type="arabicPeriod"/>
            </a:pPr>
            <a:r>
              <a:rPr lang="en-US" sz="1800">
                <a:latin typeface="Times New Roman"/>
                <a:ea typeface="Times New Roman"/>
                <a:cs typeface="Times New Roman"/>
                <a:sym typeface="Times New Roman"/>
              </a:rPr>
              <a:t>    METHODOLOGY</a:t>
            </a:r>
            <a:endParaRPr sz="1800">
              <a:latin typeface="Times New Roman"/>
              <a:ea typeface="Times New Roman"/>
              <a:cs typeface="Times New Roman"/>
              <a:sym typeface="Times New Roman"/>
            </a:endParaRPr>
          </a:p>
          <a:p>
            <a:pPr marL="228600" lvl="0" indent="-228600" algn="l" rtl="0">
              <a:lnSpc>
                <a:spcPct val="100000"/>
              </a:lnSpc>
              <a:spcBef>
                <a:spcPts val="1000"/>
              </a:spcBef>
              <a:spcAft>
                <a:spcPts val="0"/>
              </a:spcAft>
              <a:buSzPts val="1800"/>
              <a:buFont typeface="Times New Roman"/>
              <a:buAutoNum type="arabicPeriod"/>
            </a:pPr>
            <a:r>
              <a:rPr lang="en-US" sz="1800">
                <a:latin typeface="Times New Roman"/>
                <a:ea typeface="Times New Roman"/>
                <a:cs typeface="Times New Roman"/>
                <a:sym typeface="Times New Roman"/>
              </a:rPr>
              <a:t>     SYSTEM DESIGN</a:t>
            </a:r>
            <a:endParaRPr sz="1800">
              <a:latin typeface="Times New Roman"/>
              <a:ea typeface="Times New Roman"/>
              <a:cs typeface="Times New Roman"/>
              <a:sym typeface="Times New Roman"/>
            </a:endParaRPr>
          </a:p>
          <a:p>
            <a:pPr marL="228600" lvl="0" indent="-228600" algn="l" rtl="0">
              <a:lnSpc>
                <a:spcPct val="100000"/>
              </a:lnSpc>
              <a:spcBef>
                <a:spcPts val="1000"/>
              </a:spcBef>
              <a:spcAft>
                <a:spcPts val="0"/>
              </a:spcAft>
              <a:buSzPts val="1800"/>
              <a:buFont typeface="Times New Roman"/>
              <a:buAutoNum type="arabicPeriod"/>
            </a:pPr>
            <a:r>
              <a:rPr lang="en-US" sz="1800">
                <a:latin typeface="Times New Roman"/>
                <a:ea typeface="Times New Roman"/>
                <a:cs typeface="Times New Roman"/>
                <a:sym typeface="Times New Roman"/>
              </a:rPr>
              <a:t>    SYSTEM REQUIREMENTS</a:t>
            </a:r>
            <a:endParaRPr sz="2600"/>
          </a:p>
          <a:p>
            <a:pPr marL="457200" lvl="0" indent="-444500" algn="l" rtl="0">
              <a:lnSpc>
                <a:spcPct val="100000"/>
              </a:lnSpc>
              <a:spcBef>
                <a:spcPts val="1000"/>
              </a:spcBef>
              <a:spcAft>
                <a:spcPts val="0"/>
              </a:spcAft>
              <a:buClr>
                <a:schemeClr val="dk1"/>
              </a:buClr>
              <a:buSzPts val="1800"/>
              <a:buFont typeface="Times New Roman"/>
              <a:buAutoNum type="arabicPeriod"/>
            </a:pPr>
            <a:r>
              <a:rPr lang="en-US" sz="1800">
                <a:latin typeface="Times New Roman"/>
                <a:ea typeface="Times New Roman"/>
                <a:cs typeface="Times New Roman"/>
                <a:sym typeface="Times New Roman"/>
              </a:rPr>
              <a:t> RESULT</a:t>
            </a:r>
            <a:endParaRPr sz="1800">
              <a:latin typeface="Times New Roman"/>
              <a:ea typeface="Times New Roman"/>
              <a:cs typeface="Times New Roman"/>
              <a:sym typeface="Times New Roman"/>
            </a:endParaRPr>
          </a:p>
          <a:p>
            <a:pPr marL="228600" lvl="0" indent="-228600" algn="l" rtl="0">
              <a:lnSpc>
                <a:spcPct val="100000"/>
              </a:lnSpc>
              <a:spcBef>
                <a:spcPts val="1000"/>
              </a:spcBef>
              <a:spcAft>
                <a:spcPts val="0"/>
              </a:spcAft>
              <a:buSzPts val="1800"/>
              <a:buFont typeface="Times New Roman"/>
              <a:buAutoNum type="arabicPeriod"/>
            </a:pPr>
            <a:r>
              <a:rPr lang="en-US" sz="1800">
                <a:latin typeface="Times New Roman"/>
                <a:ea typeface="Times New Roman"/>
                <a:cs typeface="Times New Roman"/>
                <a:sym typeface="Times New Roman"/>
              </a:rPr>
              <a:t>     FUTURE ENHANCEMENT</a:t>
            </a:r>
            <a:endParaRPr sz="1800">
              <a:latin typeface="Times New Roman"/>
              <a:ea typeface="Times New Roman"/>
              <a:cs typeface="Times New Roman"/>
              <a:sym typeface="Times New Roman"/>
            </a:endParaRPr>
          </a:p>
          <a:p>
            <a:pPr marL="228600" lvl="0" indent="-228600" algn="l" rtl="0">
              <a:lnSpc>
                <a:spcPct val="100000"/>
              </a:lnSpc>
              <a:spcBef>
                <a:spcPts val="1000"/>
              </a:spcBef>
              <a:spcAft>
                <a:spcPts val="0"/>
              </a:spcAft>
              <a:buSzPts val="1800"/>
              <a:buFont typeface="Times New Roman"/>
              <a:buAutoNum type="arabicPeriod"/>
            </a:pPr>
            <a:r>
              <a:rPr lang="en-US" sz="1800">
                <a:latin typeface="Times New Roman"/>
                <a:ea typeface="Times New Roman"/>
                <a:cs typeface="Times New Roman"/>
                <a:sym typeface="Times New Roman"/>
              </a:rPr>
              <a:t>     APPLICATIONS</a:t>
            </a:r>
            <a:endParaRPr sz="1800">
              <a:latin typeface="Times New Roman"/>
              <a:ea typeface="Times New Roman"/>
              <a:cs typeface="Times New Roman"/>
              <a:sym typeface="Times New Roman"/>
            </a:endParaRPr>
          </a:p>
          <a:p>
            <a:pPr marL="228600" lvl="0" indent="-228600" algn="l" rtl="0">
              <a:lnSpc>
                <a:spcPct val="100000"/>
              </a:lnSpc>
              <a:spcBef>
                <a:spcPts val="1000"/>
              </a:spcBef>
              <a:spcAft>
                <a:spcPts val="0"/>
              </a:spcAft>
              <a:buSzPts val="1800"/>
              <a:buFont typeface="Times New Roman"/>
              <a:buAutoNum type="arabicPeriod"/>
            </a:pPr>
            <a:r>
              <a:rPr lang="en-US" sz="1800">
                <a:latin typeface="Times New Roman"/>
                <a:ea typeface="Times New Roman"/>
                <a:cs typeface="Times New Roman"/>
                <a:sym typeface="Times New Roman"/>
              </a:rPr>
              <a:t>     CONCLUSION</a:t>
            </a:r>
            <a:endParaRPr sz="1800">
              <a:latin typeface="Times New Roman"/>
              <a:ea typeface="Times New Roman"/>
              <a:cs typeface="Times New Roman"/>
              <a:sym typeface="Times New Roman"/>
            </a:endParaRPr>
          </a:p>
          <a:p>
            <a:pPr marL="228600" lvl="0" indent="-228600" algn="l" rtl="0">
              <a:lnSpc>
                <a:spcPct val="100000"/>
              </a:lnSpc>
              <a:spcBef>
                <a:spcPts val="1000"/>
              </a:spcBef>
              <a:spcAft>
                <a:spcPts val="0"/>
              </a:spcAft>
              <a:buSzPts val="1800"/>
              <a:buFont typeface="Times New Roman"/>
              <a:buAutoNum type="arabicPeriod"/>
            </a:pPr>
            <a:r>
              <a:rPr lang="en-US" sz="1800">
                <a:latin typeface="Times New Roman"/>
                <a:ea typeface="Times New Roman"/>
                <a:cs typeface="Times New Roman"/>
                <a:sym typeface="Times New Roman"/>
              </a:rPr>
              <a:t>     REFERENCES</a:t>
            </a:r>
            <a:endParaRPr sz="18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5"/>
          <p:cNvSpPr txBox="1">
            <a:spLocks noGrp="1"/>
          </p:cNvSpPr>
          <p:nvPr>
            <p:ph type="title"/>
          </p:nvPr>
        </p:nvSpPr>
        <p:spPr>
          <a:xfrm>
            <a:off x="838200" y="0"/>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400"/>
              <a:buFont typeface="Times New Roman"/>
              <a:buNone/>
            </a:pPr>
            <a:r>
              <a:rPr lang="en-US" sz="2400" b="1">
                <a:latin typeface="Times New Roman"/>
                <a:ea typeface="Times New Roman"/>
                <a:cs typeface="Times New Roman"/>
                <a:sym typeface="Times New Roman"/>
              </a:rPr>
              <a:t>ABSTRACT</a:t>
            </a:r>
            <a:endParaRPr sz="2400" b="1">
              <a:latin typeface="Times New Roman"/>
              <a:ea typeface="Times New Roman"/>
              <a:cs typeface="Times New Roman"/>
              <a:sym typeface="Times New Roman"/>
            </a:endParaRPr>
          </a:p>
        </p:txBody>
      </p:sp>
      <p:sp>
        <p:nvSpPr>
          <p:cNvPr id="101" name="Google Shape;101;p15"/>
          <p:cNvSpPr txBox="1">
            <a:spLocks noGrp="1"/>
          </p:cNvSpPr>
          <p:nvPr>
            <p:ph type="body" idx="1"/>
          </p:nvPr>
        </p:nvSpPr>
        <p:spPr>
          <a:xfrm>
            <a:off x="838200" y="1185862"/>
            <a:ext cx="10515600" cy="5352590"/>
          </a:xfrm>
          <a:prstGeom prst="rect">
            <a:avLst/>
          </a:prstGeom>
          <a:noFill/>
          <a:ln>
            <a:noFill/>
          </a:ln>
        </p:spPr>
        <p:txBody>
          <a:bodyPr spcFirstLastPara="1" wrap="square" lIns="91425" tIns="45700" rIns="91425" bIns="45700" anchor="t" anchorCtr="0">
            <a:normAutofit/>
          </a:bodyPr>
          <a:lstStyle/>
          <a:p>
            <a:pPr marL="0" lvl="0" indent="0" algn="just" rtl="0">
              <a:lnSpc>
                <a:spcPct val="107000"/>
              </a:lnSpc>
              <a:spcBef>
                <a:spcPts val="0"/>
              </a:spcBef>
              <a:spcAft>
                <a:spcPts val="0"/>
              </a:spcAft>
              <a:buClr>
                <a:schemeClr val="dk1"/>
              </a:buClr>
              <a:buSzPts val="2200"/>
              <a:buFont typeface="Arial"/>
              <a:buNone/>
            </a:pPr>
            <a:r>
              <a:rPr lang="en-US" sz="2000">
                <a:latin typeface="Times New Roman"/>
                <a:ea typeface="Times New Roman"/>
                <a:cs typeface="Times New Roman"/>
                <a:sym typeface="Times New Roman"/>
              </a:rPr>
              <a:t>This project leverages social media data to analyze public opinion and engagement. It processes posts, likes, and retweets using machine learning to detect sentiment (positive, negative, neutral). Text data is transformed using TF-IDF, sentiment labels are encoded, and models like Random Forest and Gradient Boosting are trained and compared. Visualizations reveal how sentiment correlates with engagement, highlighting which content attracts more attention. A user-friendly interface enables trend analysis and model comparison, offering actionable insights to improve marketing strategies and audience connection.</a:t>
            </a:r>
            <a:endParaRPr sz="2000">
              <a:latin typeface="Times New Roman"/>
              <a:ea typeface="Times New Roman"/>
              <a:cs typeface="Times New Roman"/>
              <a:sym typeface="Times New Roman"/>
            </a:endParaRPr>
          </a:p>
          <a:p>
            <a:pPr marL="0" lvl="0" indent="0" algn="just" rtl="0">
              <a:lnSpc>
                <a:spcPct val="107000"/>
              </a:lnSpc>
              <a:spcBef>
                <a:spcPts val="0"/>
              </a:spcBef>
              <a:spcAft>
                <a:spcPts val="0"/>
              </a:spcAft>
              <a:buClr>
                <a:schemeClr val="dk1"/>
              </a:buClr>
              <a:buSzPts val="2200"/>
              <a:buFont typeface="Arial"/>
              <a:buNone/>
            </a:pPr>
            <a:endParaRPr sz="2200">
              <a:latin typeface="Times New Roman"/>
              <a:ea typeface="Times New Roman"/>
              <a:cs typeface="Times New Roman"/>
              <a:sym typeface="Times New Roman"/>
            </a:endParaRPr>
          </a:p>
          <a:p>
            <a:pPr marL="0" lvl="0" indent="0" algn="just" rtl="0">
              <a:lnSpc>
                <a:spcPct val="107000"/>
              </a:lnSpc>
              <a:spcBef>
                <a:spcPts val="0"/>
              </a:spcBef>
              <a:spcAft>
                <a:spcPts val="0"/>
              </a:spcAft>
              <a:buClr>
                <a:schemeClr val="dk1"/>
              </a:buClr>
              <a:buSzPts val="2200"/>
              <a:buFont typeface="Arial"/>
              <a:buNone/>
            </a:pPr>
            <a:r>
              <a:rPr lang="en-US" sz="2000" b="1">
                <a:latin typeface="Times New Roman"/>
                <a:ea typeface="Times New Roman"/>
                <a:cs typeface="Times New Roman"/>
                <a:sym typeface="Times New Roman"/>
              </a:rPr>
              <a:t>Keywords</a:t>
            </a:r>
            <a:r>
              <a:rPr lang="en-US" sz="2200">
                <a:latin typeface="Times New Roman"/>
                <a:ea typeface="Times New Roman"/>
                <a:cs typeface="Times New Roman"/>
                <a:sym typeface="Times New Roman"/>
              </a:rPr>
              <a:t>: </a:t>
            </a:r>
            <a:r>
              <a:rPr lang="en-US" sz="2000">
                <a:latin typeface="Times New Roman"/>
                <a:ea typeface="Times New Roman"/>
                <a:cs typeface="Times New Roman"/>
                <a:sym typeface="Times New Roman"/>
              </a:rPr>
              <a:t>Social Media, Sentiment Analysis, Emotions, User Engagement, Natural Language Processing(NLP), TF-IDF, Gradient Boosting, Random Forest.</a:t>
            </a:r>
            <a:endParaRPr sz="2000">
              <a:latin typeface="Times New Roman"/>
              <a:ea typeface="Times New Roman"/>
              <a:cs typeface="Times New Roman"/>
              <a:sym typeface="Times New Roman"/>
            </a:endParaRPr>
          </a:p>
          <a:p>
            <a:pPr marL="0" lvl="0" indent="0" algn="just" rtl="0">
              <a:lnSpc>
                <a:spcPct val="110000"/>
              </a:lnSpc>
              <a:spcBef>
                <a:spcPts val="0"/>
              </a:spcBef>
              <a:spcAft>
                <a:spcPts val="0"/>
              </a:spcAft>
              <a:buClr>
                <a:schemeClr val="dk1"/>
              </a:buClr>
              <a:buSzPts val="2000"/>
              <a:buNone/>
            </a:pPr>
            <a:endParaRPr sz="20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6"/>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400"/>
              <a:buFont typeface="Times New Roman"/>
              <a:buNone/>
            </a:pPr>
            <a:r>
              <a:rPr lang="en-US" sz="2400" b="1">
                <a:latin typeface="Times New Roman"/>
                <a:ea typeface="Times New Roman"/>
                <a:cs typeface="Times New Roman"/>
                <a:sym typeface="Times New Roman"/>
              </a:rPr>
              <a:t>INTRODUCTION</a:t>
            </a:r>
            <a:endParaRPr sz="2400" b="1">
              <a:latin typeface="Times New Roman"/>
              <a:ea typeface="Times New Roman"/>
              <a:cs typeface="Times New Roman"/>
              <a:sym typeface="Times New Roman"/>
            </a:endParaRPr>
          </a:p>
        </p:txBody>
      </p:sp>
      <p:sp>
        <p:nvSpPr>
          <p:cNvPr id="107" name="Google Shape;107;p16"/>
          <p:cNvSpPr txBox="1">
            <a:spLocks noGrp="1"/>
          </p:cNvSpPr>
          <p:nvPr>
            <p:ph type="body" idx="1"/>
          </p:nvPr>
        </p:nvSpPr>
        <p:spPr>
          <a:xfrm>
            <a:off x="838200" y="1185862"/>
            <a:ext cx="10515600" cy="5352600"/>
          </a:xfrm>
          <a:prstGeom prst="rect">
            <a:avLst/>
          </a:prstGeom>
          <a:noFill/>
          <a:ln>
            <a:noFill/>
          </a:ln>
        </p:spPr>
        <p:txBody>
          <a:bodyPr spcFirstLastPara="1" wrap="square" lIns="91425" tIns="45700" rIns="91425" bIns="45700" anchor="t" anchorCtr="0">
            <a:normAutofit/>
          </a:bodyPr>
          <a:lstStyle/>
          <a:p>
            <a:pPr marL="114300" lvl="0" indent="0" algn="just" rtl="0">
              <a:lnSpc>
                <a:spcPct val="110000"/>
              </a:lnSpc>
              <a:spcBef>
                <a:spcPts val="0"/>
              </a:spcBef>
              <a:spcAft>
                <a:spcPts val="0"/>
              </a:spcAft>
              <a:buClr>
                <a:schemeClr val="dk1"/>
              </a:buClr>
              <a:buSzPts val="2000"/>
              <a:buNone/>
            </a:pPr>
            <a:r>
              <a:rPr lang="en-US" sz="2000">
                <a:latin typeface="Times New Roman"/>
                <a:ea typeface="Times New Roman"/>
                <a:cs typeface="Times New Roman"/>
                <a:sym typeface="Times New Roman"/>
              </a:rPr>
              <a:t>In today’s digital era, social media platforms serve as a space where millions express opinions, shaping societal trends and public sentiment. This project utilizes machine learning to analyze large volumes of unstructured text data, focusing on sentiment analysis to decode emotional tones behind user posts. Supervised models like Random Forest and Gradient Boosting are applied for high-accuracy sentiment classification, using TF-IDF for text vectorization and label encoding for sentiment tagging. The system also integrates engagement metrics—likes, shares, retweets—to understand how sentiment drives user interaction. A dedicated visualization module presents sentiment distribution, platform-based trends, and emoji-driven emotions, offering a comprehensive pipeline from data ingestion to insightful analysis.</a:t>
            </a:r>
            <a:endParaRPr sz="20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7"/>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400"/>
              <a:buFont typeface="Times New Roman"/>
              <a:buNone/>
            </a:pPr>
            <a:r>
              <a:rPr lang="en-US" sz="2400" b="1">
                <a:latin typeface="Times New Roman"/>
                <a:ea typeface="Times New Roman"/>
                <a:cs typeface="Times New Roman"/>
                <a:sym typeface="Times New Roman"/>
              </a:rPr>
              <a:t>LITERATURE SURVEY</a:t>
            </a:r>
            <a:endParaRPr sz="2400" b="1">
              <a:latin typeface="Times New Roman"/>
              <a:ea typeface="Times New Roman"/>
              <a:cs typeface="Times New Roman"/>
              <a:sym typeface="Times New Roman"/>
            </a:endParaRPr>
          </a:p>
        </p:txBody>
      </p:sp>
      <p:sp>
        <p:nvSpPr>
          <p:cNvPr id="113" name="Google Shape;113;p17"/>
          <p:cNvSpPr txBox="1">
            <a:spLocks noGrp="1"/>
          </p:cNvSpPr>
          <p:nvPr>
            <p:ph type="body" idx="1"/>
          </p:nvPr>
        </p:nvSpPr>
        <p:spPr>
          <a:xfrm>
            <a:off x="881600" y="841675"/>
            <a:ext cx="10905000" cy="5766300"/>
          </a:xfrm>
          <a:prstGeom prst="rect">
            <a:avLst/>
          </a:prstGeom>
          <a:noFill/>
          <a:ln>
            <a:noFill/>
          </a:ln>
        </p:spPr>
        <p:txBody>
          <a:bodyPr spcFirstLastPara="1" wrap="square" lIns="91425" tIns="45700" rIns="91425" bIns="45700" anchor="t" anchorCtr="0">
            <a:noAutofit/>
          </a:bodyPr>
          <a:lstStyle/>
          <a:p>
            <a:pPr marL="179999" lvl="0" indent="0" algn="l" rtl="0">
              <a:lnSpc>
                <a:spcPct val="110000"/>
              </a:lnSpc>
              <a:spcBef>
                <a:spcPts val="0"/>
              </a:spcBef>
              <a:spcAft>
                <a:spcPts val="0"/>
              </a:spcAft>
              <a:buClr>
                <a:schemeClr val="dk1"/>
              </a:buClr>
              <a:buSzPts val="2000"/>
              <a:buNone/>
            </a:pPr>
            <a:r>
              <a:rPr lang="en-US" sz="2000" b="1" dirty="0">
                <a:latin typeface="Times New Roman"/>
                <a:ea typeface="Times New Roman"/>
                <a:cs typeface="Times New Roman"/>
                <a:sym typeface="Times New Roman"/>
              </a:rPr>
              <a:t>Research Paper – 1</a:t>
            </a:r>
          </a:p>
          <a:p>
            <a:pPr marL="179999" lvl="0" indent="0" algn="just" rtl="0">
              <a:lnSpc>
                <a:spcPct val="110000"/>
              </a:lnSpc>
              <a:spcBef>
                <a:spcPts val="0"/>
              </a:spcBef>
              <a:spcAft>
                <a:spcPts val="0"/>
              </a:spcAft>
              <a:buClr>
                <a:schemeClr val="dk1"/>
              </a:buClr>
              <a:buSzPts val="2000"/>
              <a:buNone/>
            </a:pPr>
            <a:r>
              <a:rPr lang="en-US" sz="2000" b="1" dirty="0">
                <a:latin typeface="Times New Roman" panose="02020603050405020304" pitchFamily="18" charset="0"/>
                <a:cs typeface="Times New Roman" panose="02020603050405020304" pitchFamily="18" charset="0"/>
              </a:rPr>
              <a:t>Title:</a:t>
            </a:r>
            <a:r>
              <a:rPr lang="en-US" sz="2000" dirty="0">
                <a:latin typeface="Times New Roman" panose="02020603050405020304" pitchFamily="18" charset="0"/>
                <a:cs typeface="Times New Roman" panose="02020603050405020304" pitchFamily="18" charset="0"/>
              </a:rPr>
              <a:t> Twitter-Based Sentiment Analysis and Topic Modelling of Social Media Posts Using Natural Language Processing, to Understand People’s Perspectives Regarding COVID-19 Booster Vaccine Shots in India: Crucial to Expanding Vaccination Coverage </a:t>
            </a:r>
          </a:p>
          <a:p>
            <a:pPr marL="179999" lvl="0" indent="0" algn="just" rtl="0">
              <a:lnSpc>
                <a:spcPct val="110000"/>
              </a:lnSpc>
              <a:spcBef>
                <a:spcPts val="0"/>
              </a:spcBef>
              <a:spcAft>
                <a:spcPts val="0"/>
              </a:spcAft>
              <a:buClr>
                <a:schemeClr val="dk1"/>
              </a:buClr>
              <a:buSzPts val="2000"/>
              <a:buNone/>
            </a:pPr>
            <a:r>
              <a:rPr lang="en-US" sz="2000" b="1" dirty="0">
                <a:latin typeface="Times New Roman" panose="02020603050405020304" pitchFamily="18" charset="0"/>
                <a:cs typeface="Times New Roman" panose="02020603050405020304" pitchFamily="18" charset="0"/>
              </a:rPr>
              <a:t>Authors:</a:t>
            </a:r>
            <a:r>
              <a:rPr lang="en-US" sz="2000" dirty="0">
                <a:latin typeface="Times New Roman" panose="02020603050405020304" pitchFamily="18" charset="0"/>
                <a:cs typeface="Times New Roman" panose="02020603050405020304" pitchFamily="18" charset="0"/>
              </a:rPr>
              <a:t> Praveen S.V., Jose Manuel Lorenz, Rajesh </a:t>
            </a:r>
            <a:r>
              <a:rPr lang="en-US" sz="2000" dirty="0" err="1">
                <a:latin typeface="Times New Roman" panose="02020603050405020304" pitchFamily="18" charset="0"/>
                <a:cs typeface="Times New Roman" panose="02020603050405020304" pitchFamily="18" charset="0"/>
              </a:rPr>
              <a:t>Ittamalla</a:t>
            </a:r>
            <a:r>
              <a:rPr lang="en-US" sz="2000" dirty="0">
                <a:latin typeface="Times New Roman" panose="02020603050405020304" pitchFamily="18" charset="0"/>
                <a:cs typeface="Times New Roman" panose="02020603050405020304" pitchFamily="18" charset="0"/>
              </a:rPr>
              <a:t>, Kuldeep </a:t>
            </a:r>
            <a:r>
              <a:rPr lang="en-US" sz="2000" dirty="0" err="1">
                <a:latin typeface="Times New Roman" panose="02020603050405020304" pitchFamily="18" charset="0"/>
                <a:cs typeface="Times New Roman" panose="02020603050405020304" pitchFamily="18" charset="0"/>
              </a:rPr>
              <a:t>Dhama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Daruri</a:t>
            </a:r>
            <a:r>
              <a:rPr lang="en-US" sz="2000" dirty="0">
                <a:latin typeface="Times New Roman" panose="02020603050405020304" pitchFamily="18" charset="0"/>
                <a:cs typeface="Times New Roman" panose="02020603050405020304" pitchFamily="18" charset="0"/>
              </a:rPr>
              <a:t> Venkata Srinivas Kumar, and </a:t>
            </a:r>
            <a:r>
              <a:rPr lang="en-US" sz="2000" dirty="0" err="1">
                <a:latin typeface="Times New Roman" panose="02020603050405020304" pitchFamily="18" charset="0"/>
                <a:cs typeface="Times New Roman" panose="02020603050405020304" pitchFamily="18" charset="0"/>
              </a:rPr>
              <a:t>Thivyaa</a:t>
            </a:r>
            <a:r>
              <a:rPr lang="en-US" sz="2000" dirty="0">
                <a:latin typeface="Times New Roman" panose="02020603050405020304" pitchFamily="18" charset="0"/>
                <a:cs typeface="Times New Roman" panose="02020603050405020304" pitchFamily="18" charset="0"/>
              </a:rPr>
              <a:t> Mohan </a:t>
            </a:r>
          </a:p>
          <a:p>
            <a:pPr marL="179999" lvl="0" indent="0" algn="just" rtl="0">
              <a:lnSpc>
                <a:spcPct val="110000"/>
              </a:lnSpc>
              <a:spcBef>
                <a:spcPts val="0"/>
              </a:spcBef>
              <a:spcAft>
                <a:spcPts val="0"/>
              </a:spcAft>
              <a:buClr>
                <a:schemeClr val="dk1"/>
              </a:buClr>
              <a:buSzPts val="2000"/>
              <a:buNone/>
            </a:pPr>
            <a:r>
              <a:rPr lang="en-US" sz="2000" b="1" dirty="0">
                <a:latin typeface="Times New Roman" panose="02020603050405020304" pitchFamily="18" charset="0"/>
                <a:cs typeface="Times New Roman" panose="02020603050405020304" pitchFamily="18" charset="0"/>
              </a:rPr>
              <a:t>Published: </a:t>
            </a:r>
            <a:r>
              <a:rPr lang="en-US" sz="2000" dirty="0">
                <a:latin typeface="Times New Roman" panose="02020603050405020304" pitchFamily="18" charset="0"/>
                <a:cs typeface="Times New Roman" panose="02020603050405020304" pitchFamily="18" charset="0"/>
              </a:rPr>
              <a:t>Vaccines, 2022 </a:t>
            </a:r>
          </a:p>
          <a:p>
            <a:pPr marL="179999" lvl="0" indent="0" algn="just" rtl="0">
              <a:lnSpc>
                <a:spcPct val="110000"/>
              </a:lnSpc>
              <a:spcBef>
                <a:spcPts val="0"/>
              </a:spcBef>
              <a:spcAft>
                <a:spcPts val="0"/>
              </a:spcAft>
              <a:buClr>
                <a:schemeClr val="dk1"/>
              </a:buClr>
              <a:buSzPts val="2000"/>
              <a:buNone/>
            </a:pPr>
            <a:r>
              <a:rPr lang="en-US" sz="2000" b="1" dirty="0">
                <a:latin typeface="Times New Roman" panose="02020603050405020304" pitchFamily="18" charset="0"/>
                <a:cs typeface="Times New Roman" panose="02020603050405020304" pitchFamily="18" charset="0"/>
              </a:rPr>
              <a:t>Summary:</a:t>
            </a:r>
            <a:r>
              <a:rPr lang="en-US" sz="2000" dirty="0">
                <a:latin typeface="Times New Roman" panose="02020603050405020304" pitchFamily="18" charset="0"/>
                <a:cs typeface="Times New Roman" panose="02020603050405020304" pitchFamily="18" charset="0"/>
              </a:rPr>
              <a:t> This paper employs natural language processing techniques to analyze 76,979 English-language tweets from India regarding COVID-19 booster shots. The study uses sentiment analysis and Latent Dirichlet Allocation (LDA) for topic modeling to understand public opinion. Results show that 52.8% of tweets were negative, 31.5% neutral, and 15.6% positive, highlighting concerns over vaccine necessity, side effects, and mistrust in pharmaceutical companies. </a:t>
            </a:r>
          </a:p>
          <a:p>
            <a:pPr marL="179999" lvl="0" indent="0" algn="just" rtl="0">
              <a:lnSpc>
                <a:spcPct val="110000"/>
              </a:lnSpc>
              <a:spcBef>
                <a:spcPts val="0"/>
              </a:spcBef>
              <a:spcAft>
                <a:spcPts val="0"/>
              </a:spcAft>
              <a:buClr>
                <a:schemeClr val="dk1"/>
              </a:buClr>
              <a:buSzPts val="2000"/>
              <a:buNone/>
            </a:pPr>
            <a:r>
              <a:rPr lang="en-US" sz="2000" b="1" dirty="0">
                <a:latin typeface="Times New Roman" panose="02020603050405020304" pitchFamily="18" charset="0"/>
                <a:cs typeface="Times New Roman" panose="02020603050405020304" pitchFamily="18" charset="0"/>
              </a:rPr>
              <a:t>Drawbacks:</a:t>
            </a:r>
            <a:r>
              <a:rPr lang="en-US" sz="2000" dirty="0">
                <a:latin typeface="Times New Roman" panose="02020603050405020304" pitchFamily="18" charset="0"/>
                <a:cs typeface="Times New Roman" panose="02020603050405020304" pitchFamily="18" charset="0"/>
              </a:rPr>
              <a:t> The analysis is limited to English tweets, which may exclude a significant portion of India’s population. Additionally, it does not incorporate demographic data or engagement metrics like retweets and likes, which could provide a deeper understanding of sentiment spread and influence.</a:t>
            </a:r>
            <a:endParaRPr sz="20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body" idx="1"/>
          </p:nvPr>
        </p:nvSpPr>
        <p:spPr>
          <a:xfrm>
            <a:off x="881600" y="649100"/>
            <a:ext cx="10771800" cy="5559900"/>
          </a:xfrm>
          <a:prstGeom prst="rect">
            <a:avLst/>
          </a:prstGeom>
          <a:noFill/>
          <a:ln>
            <a:noFill/>
          </a:ln>
        </p:spPr>
        <p:txBody>
          <a:bodyPr spcFirstLastPara="1" wrap="square" lIns="91425" tIns="45700" rIns="91425" bIns="45700" anchor="t" anchorCtr="0">
            <a:noAutofit/>
          </a:bodyPr>
          <a:lstStyle/>
          <a:p>
            <a:pPr marL="180000" lvl="0" indent="0" algn="just" rtl="0">
              <a:lnSpc>
                <a:spcPct val="110000"/>
              </a:lnSpc>
              <a:spcBef>
                <a:spcPts val="0"/>
              </a:spcBef>
              <a:spcAft>
                <a:spcPts val="0"/>
              </a:spcAft>
              <a:buClr>
                <a:schemeClr val="dk1"/>
              </a:buClr>
              <a:buSzPts val="2000"/>
              <a:buNone/>
            </a:pPr>
            <a:r>
              <a:rPr lang="en-US" sz="2000" b="1" dirty="0">
                <a:latin typeface="Times New Roman"/>
                <a:ea typeface="Times New Roman"/>
                <a:cs typeface="Times New Roman"/>
                <a:sym typeface="Times New Roman"/>
              </a:rPr>
              <a:t>Research Paper – 2</a:t>
            </a:r>
          </a:p>
          <a:p>
            <a:pPr marL="180000" lvl="0" indent="0" algn="just" rtl="0">
              <a:lnSpc>
                <a:spcPct val="110000"/>
              </a:lnSpc>
              <a:spcBef>
                <a:spcPts val="0"/>
              </a:spcBef>
              <a:spcAft>
                <a:spcPts val="0"/>
              </a:spcAft>
              <a:buClr>
                <a:schemeClr val="dk1"/>
              </a:buClr>
              <a:buSzPts val="2000"/>
              <a:buNone/>
            </a:pPr>
            <a:r>
              <a:rPr lang="en-US" sz="2000" b="1" dirty="0">
                <a:latin typeface="Times New Roman" panose="02020603050405020304" pitchFamily="18" charset="0"/>
                <a:cs typeface="Times New Roman" panose="02020603050405020304" pitchFamily="18" charset="0"/>
              </a:rPr>
              <a:t>Title:</a:t>
            </a:r>
            <a:r>
              <a:rPr lang="en-US" sz="2000" dirty="0">
                <a:latin typeface="Times New Roman" panose="02020603050405020304" pitchFamily="18" charset="0"/>
                <a:cs typeface="Times New Roman" panose="02020603050405020304" pitchFamily="18" charset="0"/>
              </a:rPr>
              <a:t> Exploring Sentiment Analysis Techniques in Natural Language Processing: A Comprehensive Review </a:t>
            </a:r>
          </a:p>
          <a:p>
            <a:pPr marL="180000" lvl="0" indent="0" algn="just" rtl="0">
              <a:lnSpc>
                <a:spcPct val="110000"/>
              </a:lnSpc>
              <a:spcBef>
                <a:spcPts val="0"/>
              </a:spcBef>
              <a:spcAft>
                <a:spcPts val="0"/>
              </a:spcAft>
              <a:buClr>
                <a:schemeClr val="dk1"/>
              </a:buClr>
              <a:buSzPts val="2000"/>
              <a:buNone/>
            </a:pPr>
            <a:r>
              <a:rPr lang="en-US" sz="2000" b="1" dirty="0">
                <a:latin typeface="Times New Roman" panose="02020603050405020304" pitchFamily="18" charset="0"/>
                <a:cs typeface="Times New Roman" panose="02020603050405020304" pitchFamily="18" charset="0"/>
              </a:rPr>
              <a:t>Authors:</a:t>
            </a:r>
            <a:r>
              <a:rPr lang="en-US" sz="2000" dirty="0">
                <a:latin typeface="Times New Roman" panose="02020603050405020304" pitchFamily="18" charset="0"/>
                <a:cs typeface="Times New Roman" panose="02020603050405020304" pitchFamily="18" charset="0"/>
              </a:rPr>
              <a:t> Karthick Prasad Gunasekaran </a:t>
            </a:r>
          </a:p>
          <a:p>
            <a:pPr marL="180000" lvl="0" indent="0" algn="just" rtl="0">
              <a:lnSpc>
                <a:spcPct val="110000"/>
              </a:lnSpc>
              <a:spcBef>
                <a:spcPts val="0"/>
              </a:spcBef>
              <a:spcAft>
                <a:spcPts val="0"/>
              </a:spcAft>
              <a:buClr>
                <a:schemeClr val="dk1"/>
              </a:buClr>
              <a:buSzPts val="2000"/>
              <a:buNone/>
            </a:pPr>
            <a:r>
              <a:rPr lang="en-US" sz="2000" b="1" dirty="0">
                <a:latin typeface="Times New Roman" panose="02020603050405020304" pitchFamily="18" charset="0"/>
                <a:cs typeface="Times New Roman" panose="02020603050405020304" pitchFamily="18" charset="0"/>
              </a:rPr>
              <a:t>Published:</a:t>
            </a:r>
            <a:r>
              <a:rPr lang="en-US" sz="2000" dirty="0">
                <a:latin typeface="Times New Roman" panose="02020603050405020304" pitchFamily="18" charset="0"/>
                <a:cs typeface="Times New Roman" panose="02020603050405020304" pitchFamily="18" charset="0"/>
              </a:rPr>
              <a:t> College of Information and Computer Sciences, University of Massachusetts, Amherst, United States </a:t>
            </a:r>
          </a:p>
          <a:p>
            <a:pPr marL="180000" lvl="0" indent="0" algn="just" rtl="0">
              <a:lnSpc>
                <a:spcPct val="110000"/>
              </a:lnSpc>
              <a:spcBef>
                <a:spcPts val="0"/>
              </a:spcBef>
              <a:spcAft>
                <a:spcPts val="0"/>
              </a:spcAft>
              <a:buClr>
                <a:schemeClr val="dk1"/>
              </a:buClr>
              <a:buSzPts val="2000"/>
              <a:buNone/>
            </a:pPr>
            <a:r>
              <a:rPr lang="en-US" sz="2000" b="1" dirty="0">
                <a:latin typeface="Times New Roman" panose="02020603050405020304" pitchFamily="18" charset="0"/>
                <a:cs typeface="Times New Roman" panose="02020603050405020304" pitchFamily="18" charset="0"/>
              </a:rPr>
              <a:t>Summary:</a:t>
            </a:r>
            <a:r>
              <a:rPr lang="en-US" sz="2000" dirty="0">
                <a:latin typeface="Times New Roman" panose="02020603050405020304" pitchFamily="18" charset="0"/>
                <a:cs typeface="Times New Roman" panose="02020603050405020304" pitchFamily="18" charset="0"/>
              </a:rPr>
              <a:t> This review paper provides an extensive overview of sentiment analysis techniques used in natural language processing, covering both traditional machine learning methods and modern deep learning approaches. It discusses various text representation techniques such as Bag of Words, TF-IDF, and word embeddings, and compares the performance of classifiers including Naive Bayes, SVM, LSTM, and BERT. The paper highlights the strengths and limitations of each method in different application contexts. </a:t>
            </a:r>
          </a:p>
          <a:p>
            <a:pPr marL="180000" lvl="0" indent="0" algn="just" rtl="0">
              <a:lnSpc>
                <a:spcPct val="110000"/>
              </a:lnSpc>
              <a:spcBef>
                <a:spcPts val="0"/>
              </a:spcBef>
              <a:spcAft>
                <a:spcPts val="0"/>
              </a:spcAft>
              <a:buClr>
                <a:schemeClr val="dk1"/>
              </a:buClr>
              <a:buSzPts val="2000"/>
              <a:buNone/>
            </a:pPr>
            <a:r>
              <a:rPr lang="en-US" sz="2000" b="1" dirty="0">
                <a:latin typeface="Times New Roman" panose="02020603050405020304" pitchFamily="18" charset="0"/>
                <a:cs typeface="Times New Roman" panose="02020603050405020304" pitchFamily="18" charset="0"/>
              </a:rPr>
              <a:t>Drawbacks:</a:t>
            </a:r>
            <a:r>
              <a:rPr lang="en-US" sz="2000" dirty="0">
                <a:latin typeface="Times New Roman" panose="02020603050405020304" pitchFamily="18" charset="0"/>
                <a:cs typeface="Times New Roman" panose="02020603050405020304" pitchFamily="18" charset="0"/>
              </a:rPr>
              <a:t> The study is theoretical and lacks empirical evaluation on standardized datasets. It also does not explore real-time sentiment analysis or the integration of engagement metrics, which are increasingly relevant in social media applications.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9"/>
          <p:cNvSpPr txBox="1">
            <a:spLocks noGrp="1"/>
          </p:cNvSpPr>
          <p:nvPr>
            <p:ph type="body" idx="1"/>
          </p:nvPr>
        </p:nvSpPr>
        <p:spPr>
          <a:xfrm>
            <a:off x="881550" y="708525"/>
            <a:ext cx="10785300" cy="5559900"/>
          </a:xfrm>
          <a:prstGeom prst="rect">
            <a:avLst/>
          </a:prstGeom>
          <a:noFill/>
          <a:ln>
            <a:noFill/>
          </a:ln>
        </p:spPr>
        <p:txBody>
          <a:bodyPr spcFirstLastPara="1" wrap="square" lIns="91425" tIns="45700" rIns="91425" bIns="45700" anchor="t" anchorCtr="0">
            <a:noAutofit/>
          </a:bodyPr>
          <a:lstStyle/>
          <a:p>
            <a:pPr marL="179999" lvl="0" indent="0" algn="just" rtl="0">
              <a:lnSpc>
                <a:spcPct val="110000"/>
              </a:lnSpc>
              <a:spcBef>
                <a:spcPts val="0"/>
              </a:spcBef>
              <a:spcAft>
                <a:spcPts val="0"/>
              </a:spcAft>
              <a:buClr>
                <a:schemeClr val="dk1"/>
              </a:buClr>
              <a:buSzPts val="2000"/>
              <a:buNone/>
            </a:pPr>
            <a:r>
              <a:rPr lang="en-US" sz="2000" b="1" dirty="0">
                <a:latin typeface="Times New Roman"/>
                <a:ea typeface="Times New Roman"/>
                <a:cs typeface="Times New Roman"/>
                <a:sym typeface="Times New Roman"/>
              </a:rPr>
              <a:t>Research Paper – 3</a:t>
            </a:r>
          </a:p>
          <a:p>
            <a:pPr marL="179999" lvl="0" indent="0" algn="just" rtl="0">
              <a:lnSpc>
                <a:spcPct val="110000"/>
              </a:lnSpc>
              <a:spcBef>
                <a:spcPts val="0"/>
              </a:spcBef>
              <a:spcAft>
                <a:spcPts val="0"/>
              </a:spcAft>
              <a:buClr>
                <a:schemeClr val="dk1"/>
              </a:buClr>
              <a:buSzPts val="2000"/>
              <a:buNone/>
            </a:pPr>
            <a:r>
              <a:rPr lang="en-US" sz="2000" b="1" dirty="0">
                <a:latin typeface="Times New Roman" panose="02020603050405020304" pitchFamily="18" charset="0"/>
                <a:cs typeface="Times New Roman" panose="02020603050405020304" pitchFamily="18" charset="0"/>
              </a:rPr>
              <a:t>Title:</a:t>
            </a:r>
            <a:r>
              <a:rPr lang="en-US" sz="2000" dirty="0">
                <a:latin typeface="Times New Roman" panose="02020603050405020304" pitchFamily="18" charset="0"/>
                <a:cs typeface="Times New Roman" panose="02020603050405020304" pitchFamily="18" charset="0"/>
              </a:rPr>
              <a:t> Using Natural Language Processing to Explore Social Media Opinions on Food Security: Sentiment Analysis and Topic Modeling Study Authors: Annika Molenaar, Dickson Lukose, Linda Brennan, Eva L. Jenkins, and Tracy A. McCaffrey </a:t>
            </a:r>
          </a:p>
          <a:p>
            <a:pPr marL="179999" lvl="0" indent="0" algn="just" rtl="0">
              <a:lnSpc>
                <a:spcPct val="110000"/>
              </a:lnSpc>
              <a:spcBef>
                <a:spcPts val="0"/>
              </a:spcBef>
              <a:spcAft>
                <a:spcPts val="0"/>
              </a:spcAft>
              <a:buClr>
                <a:schemeClr val="dk1"/>
              </a:buClr>
              <a:buSzPts val="2000"/>
              <a:buNone/>
            </a:pPr>
            <a:r>
              <a:rPr lang="en-US" sz="2000" b="1" dirty="0">
                <a:latin typeface="Times New Roman" panose="02020603050405020304" pitchFamily="18" charset="0"/>
                <a:cs typeface="Times New Roman" panose="02020603050405020304" pitchFamily="18" charset="0"/>
              </a:rPr>
              <a:t>Published:</a:t>
            </a:r>
            <a:r>
              <a:rPr lang="en-US" sz="2000" dirty="0">
                <a:latin typeface="Times New Roman" panose="02020603050405020304" pitchFamily="18" charset="0"/>
                <a:cs typeface="Times New Roman" panose="02020603050405020304" pitchFamily="18" charset="0"/>
              </a:rPr>
              <a:t> JMIR </a:t>
            </a:r>
            <a:r>
              <a:rPr lang="en-US" sz="2000" dirty="0" err="1">
                <a:latin typeface="Times New Roman" panose="02020603050405020304" pitchFamily="18" charset="0"/>
                <a:cs typeface="Times New Roman" panose="02020603050405020304" pitchFamily="18" charset="0"/>
              </a:rPr>
              <a:t>Infodemiology</a:t>
            </a:r>
            <a:r>
              <a:rPr lang="en-US" sz="2000" dirty="0">
                <a:latin typeface="Times New Roman" panose="02020603050405020304" pitchFamily="18" charset="0"/>
                <a:cs typeface="Times New Roman" panose="02020603050405020304" pitchFamily="18" charset="0"/>
              </a:rPr>
              <a:t> </a:t>
            </a:r>
          </a:p>
          <a:p>
            <a:pPr marL="179999" lvl="0" indent="0" algn="just" rtl="0">
              <a:lnSpc>
                <a:spcPct val="110000"/>
              </a:lnSpc>
              <a:spcBef>
                <a:spcPts val="0"/>
              </a:spcBef>
              <a:spcAft>
                <a:spcPts val="0"/>
              </a:spcAft>
              <a:buClr>
                <a:schemeClr val="dk1"/>
              </a:buClr>
              <a:buSzPts val="2000"/>
              <a:buNone/>
            </a:pPr>
            <a:r>
              <a:rPr lang="en-US" sz="2000" b="1" dirty="0">
                <a:latin typeface="Times New Roman" panose="02020603050405020304" pitchFamily="18" charset="0"/>
                <a:cs typeface="Times New Roman" panose="02020603050405020304" pitchFamily="18" charset="0"/>
              </a:rPr>
              <a:t>Summary: </a:t>
            </a:r>
            <a:r>
              <a:rPr lang="en-US" sz="2000" dirty="0">
                <a:latin typeface="Times New Roman" panose="02020603050405020304" pitchFamily="18" charset="0"/>
                <a:cs typeface="Times New Roman" panose="02020603050405020304" pitchFamily="18" charset="0"/>
              </a:rPr>
              <a:t>This study applies natural language processing techniques, including sentiment analysis and topic modeling, to examine public opinions on food security as expressed on social media platforms. Using data collected from Twitter, the authors analyze user sentiment and identify key discussion topics related to food access, affordability, and government policy. The findings provide valuable insights into how the public perceives and discusses food security issues in real time </a:t>
            </a:r>
            <a:r>
              <a:rPr lang="en-US" sz="2000" b="1" dirty="0">
                <a:latin typeface="Times New Roman" panose="02020603050405020304" pitchFamily="18" charset="0"/>
                <a:cs typeface="Times New Roman" panose="02020603050405020304" pitchFamily="18" charset="0"/>
              </a:rPr>
              <a:t>Drawbacks: </a:t>
            </a:r>
            <a:r>
              <a:rPr lang="en-US" sz="2000" dirty="0">
                <a:latin typeface="Times New Roman" panose="02020603050405020304" pitchFamily="18" charset="0"/>
                <a:cs typeface="Times New Roman" panose="02020603050405020304" pitchFamily="18" charset="0"/>
              </a:rPr>
              <a:t>The study focuses primarily on English-language tweets, potentially excluding diverse perspectives. It also lacks real-time sentiment tracking and does not incorporate user engagement metrics such as likes or shares, which limits its depth in analyzing the spread and impact of opinions.</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0"/>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400"/>
              <a:buFont typeface="Times New Roman"/>
              <a:buNone/>
            </a:pPr>
            <a:r>
              <a:rPr lang="en-US" sz="2400" b="1">
                <a:latin typeface="Times New Roman"/>
                <a:ea typeface="Times New Roman"/>
                <a:cs typeface="Times New Roman"/>
                <a:sym typeface="Times New Roman"/>
              </a:rPr>
              <a:t>PROBLEM STATEMENT</a:t>
            </a:r>
            <a:endParaRPr sz="2400" b="1">
              <a:latin typeface="Times New Roman"/>
              <a:ea typeface="Times New Roman"/>
              <a:cs typeface="Times New Roman"/>
              <a:sym typeface="Times New Roman"/>
            </a:endParaRPr>
          </a:p>
        </p:txBody>
      </p:sp>
      <p:sp>
        <p:nvSpPr>
          <p:cNvPr id="129" name="Google Shape;129;p20"/>
          <p:cNvSpPr txBox="1">
            <a:spLocks noGrp="1"/>
          </p:cNvSpPr>
          <p:nvPr>
            <p:ph type="body" idx="1"/>
          </p:nvPr>
        </p:nvSpPr>
        <p:spPr>
          <a:xfrm>
            <a:off x="838200" y="1185862"/>
            <a:ext cx="10515600" cy="5352600"/>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1100"/>
              <a:buFont typeface="Arial"/>
              <a:buNone/>
            </a:pPr>
            <a:r>
              <a:rPr lang="en-US" sz="2000">
                <a:latin typeface="Times New Roman"/>
                <a:ea typeface="Times New Roman"/>
                <a:cs typeface="Times New Roman"/>
                <a:sym typeface="Times New Roman"/>
              </a:rPr>
              <a:t>There is a noticeable gap in having complete systems that can effectively combine machine learning with the analysis of social media sentiments and user engagement metrics like likes, shares, and retweets. Most existing tools focus only on one aspect—either basic sentiment analysis or simple engagement tracking. As a result, organizations struggle to make sense of the large volumes of unstructured data generated on platforms like Twitter, Facebook, or Instagram. Without a system that links sentiment with engagement, it's hard to understand how people truly feel about a topic or how much impact a post is making. This limits the ability of companies to respond quickly to public opinion, plan better marketing strategies, or improve customer engagement.</a:t>
            </a:r>
            <a:endParaRPr sz="2000">
              <a:latin typeface="Times New Roman"/>
              <a:ea typeface="Times New Roman"/>
              <a:cs typeface="Times New Roman"/>
              <a:sym typeface="Times New Roman"/>
            </a:endParaRPr>
          </a:p>
          <a:p>
            <a:pPr marL="114300" lvl="0" indent="0" algn="just" rtl="0">
              <a:lnSpc>
                <a:spcPct val="110000"/>
              </a:lnSpc>
              <a:spcBef>
                <a:spcPts val="0"/>
              </a:spcBef>
              <a:spcAft>
                <a:spcPts val="0"/>
              </a:spcAft>
              <a:buClr>
                <a:schemeClr val="dk1"/>
              </a:buClr>
              <a:buSzPts val="2000"/>
              <a:buNone/>
            </a:pPr>
            <a:endParaRPr sz="2000">
              <a:latin typeface="Times New Roman"/>
              <a:ea typeface="Times New Roman"/>
              <a:cs typeface="Times New Roman"/>
              <a:sym typeface="Times New Roman"/>
            </a:endParaRPr>
          </a:p>
        </p:txBody>
      </p:sp>
      <p:pic>
        <p:nvPicPr>
          <p:cNvPr id="130" name="Google Shape;130;p20"/>
          <p:cNvPicPr preferRelativeResize="0"/>
          <p:nvPr/>
        </p:nvPicPr>
        <p:blipFill rotWithShape="1">
          <a:blip r:embed="rId3">
            <a:alphaModFix/>
          </a:blip>
          <a:srcRect/>
          <a:stretch/>
        </p:blipFill>
        <p:spPr>
          <a:xfrm>
            <a:off x="3636875" y="3558450"/>
            <a:ext cx="5307500" cy="28468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1"/>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400"/>
              <a:buFont typeface="Times New Roman"/>
              <a:buNone/>
            </a:pPr>
            <a:r>
              <a:rPr lang="en-US" sz="2400" b="1">
                <a:latin typeface="Times New Roman"/>
                <a:ea typeface="Times New Roman"/>
                <a:cs typeface="Times New Roman"/>
                <a:sym typeface="Times New Roman"/>
              </a:rPr>
              <a:t>EXISTING SYSTEM</a:t>
            </a:r>
            <a:endParaRPr sz="2400" b="1">
              <a:latin typeface="Times New Roman"/>
              <a:ea typeface="Times New Roman"/>
              <a:cs typeface="Times New Roman"/>
              <a:sym typeface="Times New Roman"/>
            </a:endParaRPr>
          </a:p>
        </p:txBody>
      </p:sp>
      <p:sp>
        <p:nvSpPr>
          <p:cNvPr id="136" name="Google Shape;136;p21"/>
          <p:cNvSpPr txBox="1">
            <a:spLocks noGrp="1"/>
          </p:cNvSpPr>
          <p:nvPr>
            <p:ph type="body" idx="1"/>
          </p:nvPr>
        </p:nvSpPr>
        <p:spPr>
          <a:xfrm>
            <a:off x="838200" y="1185862"/>
            <a:ext cx="10515600" cy="535260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dk1"/>
              </a:buClr>
              <a:buSzPts val="2000"/>
              <a:buFont typeface="Times New Roman"/>
              <a:buNone/>
            </a:pPr>
            <a:r>
              <a:rPr lang="en-US" sz="2000">
                <a:latin typeface="Times New Roman"/>
                <a:ea typeface="Times New Roman"/>
                <a:cs typeface="Times New Roman"/>
                <a:sym typeface="Times New Roman"/>
              </a:rPr>
              <a:t>Existing sentiment analysis systems often rely on basic lexical methods or single classifiers, which struggle to capture the complexity of user behavior and platform-specific engagement patterns. One key limitation is the lack of integration with interaction metrics such as likes, retweets, and shares, which are critical for understanding the reach and influence of online content. These systems typically perform sentiment classification in isolation, failing to account for how emotions correlate with user engagement over time or across different platforms. Additionally, most tools offer limited support for analyzing variations between social media channels like Twitter, Facebook, or Instagram, reducing their ability to provide targeted insights.The absence of real-time analytics and interactive visualizations further hinders their usefulness in dynamic environments where trends evolve quickly. Moreover, these tools often lack the scalability and integration needed for seamless use in enterprise-level decision-making workflows. </a:t>
            </a:r>
            <a:endParaRPr sz="20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2"/>
          <p:cNvSpPr txBox="1">
            <a:spLocks noGrp="1"/>
          </p:cNvSpPr>
          <p:nvPr>
            <p:ph type="title"/>
          </p:nvPr>
        </p:nvSpPr>
        <p:spPr>
          <a:xfrm>
            <a:off x="838200" y="0"/>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400"/>
              <a:buFont typeface="Times New Roman"/>
              <a:buNone/>
            </a:pPr>
            <a:r>
              <a:rPr lang="en-US" sz="2400" b="1">
                <a:latin typeface="Times New Roman"/>
                <a:ea typeface="Times New Roman"/>
                <a:cs typeface="Times New Roman"/>
                <a:sym typeface="Times New Roman"/>
              </a:rPr>
              <a:t>PROPOSED SYSTEM</a:t>
            </a:r>
            <a:endParaRPr sz="2400" b="1">
              <a:latin typeface="Times New Roman"/>
              <a:ea typeface="Times New Roman"/>
              <a:cs typeface="Times New Roman"/>
              <a:sym typeface="Times New Roman"/>
            </a:endParaRPr>
          </a:p>
        </p:txBody>
      </p:sp>
      <p:sp>
        <p:nvSpPr>
          <p:cNvPr id="142" name="Google Shape;142;p22"/>
          <p:cNvSpPr txBox="1"/>
          <p:nvPr/>
        </p:nvSpPr>
        <p:spPr>
          <a:xfrm>
            <a:off x="838200" y="1111045"/>
            <a:ext cx="10515600" cy="25551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Times New Roman"/>
                <a:ea typeface="Times New Roman"/>
                <a:cs typeface="Times New Roman"/>
                <a:sym typeface="Times New Roman"/>
              </a:rPr>
              <a:t>The proposed system is an advanced machine learning-based framework designed to analyze sentiment from social media data, while also incorporating engagement metrics such as likes and retweets to provide deeper insights. It includes comprehensive preprocessing steps like TF-IDF vectorization for text representation and label encoding for sentiment categorization, ensuring the data is structured and ready for model training. The system employs powerful ensemble learning techniques, specifically Gradient Boosting and Random Forest algorithms, to achieve high accuracy in sentiment classification. A user-friendly interface allows users to upload datasets, initiate preprocessing, and visualize the results through interactive graphs.</a:t>
            </a:r>
            <a:endParaRPr sz="2000" b="0" i="0" u="none" strike="noStrike" cap="none">
              <a:solidFill>
                <a:schemeClr val="dk1"/>
              </a:solidFill>
              <a:latin typeface="Times New Roman"/>
              <a:ea typeface="Times New Roman"/>
              <a:cs typeface="Times New Roman"/>
              <a:sym typeface="Times New Roman"/>
            </a:endParaRPr>
          </a:p>
        </p:txBody>
      </p:sp>
      <p:pic>
        <p:nvPicPr>
          <p:cNvPr id="143" name="Google Shape;143;p22"/>
          <p:cNvPicPr preferRelativeResize="0"/>
          <p:nvPr/>
        </p:nvPicPr>
        <p:blipFill rotWithShape="1">
          <a:blip r:embed="rId3">
            <a:alphaModFix/>
          </a:blip>
          <a:srcRect/>
          <a:stretch/>
        </p:blipFill>
        <p:spPr>
          <a:xfrm>
            <a:off x="3916550" y="3612875"/>
            <a:ext cx="4508575" cy="2622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3"/>
          <p:cNvSpPr txBox="1">
            <a:spLocks noGrp="1"/>
          </p:cNvSpPr>
          <p:nvPr>
            <p:ph type="title"/>
          </p:nvPr>
        </p:nvSpPr>
        <p:spPr>
          <a:xfrm>
            <a:off x="739877" y="-165817"/>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400"/>
              <a:buFont typeface="Times New Roman"/>
              <a:buNone/>
            </a:pPr>
            <a:r>
              <a:rPr lang="en-US" sz="2400" b="1">
                <a:latin typeface="Times New Roman"/>
                <a:ea typeface="Times New Roman"/>
                <a:cs typeface="Times New Roman"/>
                <a:sym typeface="Times New Roman"/>
              </a:rPr>
              <a:t>METHODOLOGY</a:t>
            </a:r>
            <a:endParaRPr sz="2400" b="1">
              <a:latin typeface="Times New Roman"/>
              <a:ea typeface="Times New Roman"/>
              <a:cs typeface="Times New Roman"/>
              <a:sym typeface="Times New Roman"/>
            </a:endParaRPr>
          </a:p>
        </p:txBody>
      </p:sp>
      <p:sp>
        <p:nvSpPr>
          <p:cNvPr id="149" name="Google Shape;149;p23"/>
          <p:cNvSpPr txBox="1">
            <a:spLocks noGrp="1"/>
          </p:cNvSpPr>
          <p:nvPr>
            <p:ph type="body" idx="1"/>
          </p:nvPr>
        </p:nvSpPr>
        <p:spPr>
          <a:xfrm>
            <a:off x="739877" y="917912"/>
            <a:ext cx="10712100" cy="4833300"/>
          </a:xfrm>
          <a:prstGeom prst="rect">
            <a:avLst/>
          </a:prstGeom>
          <a:noFill/>
          <a:ln>
            <a:noFill/>
          </a:ln>
        </p:spPr>
        <p:txBody>
          <a:bodyPr spcFirstLastPara="1" wrap="square" lIns="91425" tIns="45700" rIns="91425" bIns="45700" anchor="ctr" anchorCtr="0">
            <a:spAutoFit/>
          </a:bodyPr>
          <a:lstStyle/>
          <a:p>
            <a:pPr marL="0" marR="0" lvl="0" indent="0" algn="just" rtl="0">
              <a:lnSpc>
                <a:spcPct val="100000"/>
              </a:lnSpc>
              <a:spcBef>
                <a:spcPts val="0"/>
              </a:spcBef>
              <a:spcAft>
                <a:spcPts val="0"/>
              </a:spcAft>
              <a:buSzPts val="1800"/>
              <a:buNone/>
            </a:pPr>
            <a:r>
              <a:rPr lang="en-US" sz="2000" b="1">
                <a:latin typeface="Times New Roman"/>
                <a:ea typeface="Times New Roman"/>
                <a:cs typeface="Times New Roman"/>
                <a:sym typeface="Times New Roman"/>
              </a:rPr>
              <a:t>1. Data Collection and Preprocessing:</a:t>
            </a:r>
            <a:endParaRPr sz="2000" b="1">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Gather social media data using APIs (Twitter, Instagram). </a:t>
            </a:r>
            <a:endParaRPr sz="2000">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Clean and preprocess text (tokenization, removal of special characters). </a:t>
            </a:r>
            <a:endParaRPr sz="2000">
              <a:latin typeface="Times New Roman"/>
              <a:ea typeface="Times New Roman"/>
              <a:cs typeface="Times New Roman"/>
              <a:sym typeface="Times New Roman"/>
            </a:endParaRPr>
          </a:p>
          <a:p>
            <a:pPr marL="457200" marR="0" lvl="0" indent="0" algn="just" rtl="0">
              <a:lnSpc>
                <a:spcPct val="100000"/>
              </a:lnSpc>
              <a:spcBef>
                <a:spcPts val="0"/>
              </a:spcBef>
              <a:spcAft>
                <a:spcPts val="0"/>
              </a:spcAft>
              <a:buSzPts val="1800"/>
              <a:buNone/>
            </a:pPr>
            <a:endParaRPr sz="2000">
              <a:latin typeface="Times New Roman"/>
              <a:ea typeface="Times New Roman"/>
              <a:cs typeface="Times New Roman"/>
              <a:sym typeface="Times New Roman"/>
            </a:endParaRPr>
          </a:p>
          <a:p>
            <a:pPr marL="0" marR="0" lvl="0" indent="0" algn="just" rtl="0">
              <a:lnSpc>
                <a:spcPct val="100000"/>
              </a:lnSpc>
              <a:spcBef>
                <a:spcPts val="0"/>
              </a:spcBef>
              <a:spcAft>
                <a:spcPts val="0"/>
              </a:spcAft>
              <a:buSzPts val="1800"/>
              <a:buNone/>
            </a:pPr>
            <a:r>
              <a:rPr lang="en-US" sz="2000" b="1">
                <a:latin typeface="Times New Roman"/>
                <a:ea typeface="Times New Roman"/>
                <a:cs typeface="Times New Roman"/>
                <a:sym typeface="Times New Roman"/>
              </a:rPr>
              <a:t>2. Model Selection and Training:</a:t>
            </a:r>
            <a:endParaRPr sz="2000" b="1">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Train models like Random Forest, SVM, or Gradient Boosting. </a:t>
            </a:r>
            <a:endParaRPr sz="2000">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Apply regularization and early stopping to avoid overfitting. </a:t>
            </a:r>
            <a:endParaRPr sz="2000">
              <a:latin typeface="Times New Roman"/>
              <a:ea typeface="Times New Roman"/>
              <a:cs typeface="Times New Roman"/>
              <a:sym typeface="Times New Roman"/>
            </a:endParaRPr>
          </a:p>
          <a:p>
            <a:pPr marL="457200" marR="0" lvl="0" indent="0" algn="just" rtl="0">
              <a:lnSpc>
                <a:spcPct val="100000"/>
              </a:lnSpc>
              <a:spcBef>
                <a:spcPts val="0"/>
              </a:spcBef>
              <a:spcAft>
                <a:spcPts val="0"/>
              </a:spcAft>
              <a:buSzPts val="1800"/>
              <a:buNone/>
            </a:pPr>
            <a:endParaRPr sz="2000">
              <a:latin typeface="Times New Roman"/>
              <a:ea typeface="Times New Roman"/>
              <a:cs typeface="Times New Roman"/>
              <a:sym typeface="Times New Roman"/>
            </a:endParaRPr>
          </a:p>
          <a:p>
            <a:pPr marL="0" marR="0" lvl="0" indent="0" algn="just" rtl="0">
              <a:lnSpc>
                <a:spcPct val="100000"/>
              </a:lnSpc>
              <a:spcBef>
                <a:spcPts val="0"/>
              </a:spcBef>
              <a:spcAft>
                <a:spcPts val="0"/>
              </a:spcAft>
              <a:buSzPts val="1800"/>
              <a:buNone/>
            </a:pPr>
            <a:r>
              <a:rPr lang="en-US" sz="2000" b="1">
                <a:latin typeface="Times New Roman"/>
                <a:ea typeface="Times New Roman"/>
                <a:cs typeface="Times New Roman"/>
                <a:sym typeface="Times New Roman"/>
              </a:rPr>
              <a:t>3. Backend Development:</a:t>
            </a:r>
            <a:endParaRPr sz="2000" b="1">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Python, Flask, Pandas, scikit-learn, SQLite.</a:t>
            </a:r>
            <a:endParaRPr sz="2000">
              <a:latin typeface="Times New Roman"/>
              <a:ea typeface="Times New Roman"/>
              <a:cs typeface="Times New Roman"/>
              <a:sym typeface="Times New Roman"/>
            </a:endParaRPr>
          </a:p>
          <a:p>
            <a:pPr marL="457200" marR="0" lvl="0" indent="0" algn="just" rtl="0">
              <a:lnSpc>
                <a:spcPct val="100000"/>
              </a:lnSpc>
              <a:spcBef>
                <a:spcPts val="0"/>
              </a:spcBef>
              <a:spcAft>
                <a:spcPts val="0"/>
              </a:spcAft>
              <a:buSzPts val="1800"/>
              <a:buNone/>
            </a:pPr>
            <a:endParaRPr sz="2000">
              <a:latin typeface="Times New Roman"/>
              <a:ea typeface="Times New Roman"/>
              <a:cs typeface="Times New Roman"/>
              <a:sym typeface="Times New Roman"/>
            </a:endParaRPr>
          </a:p>
          <a:p>
            <a:pPr marL="0" marR="0" lvl="0" indent="0" algn="just" rtl="0">
              <a:lnSpc>
                <a:spcPct val="100000"/>
              </a:lnSpc>
              <a:spcBef>
                <a:spcPts val="0"/>
              </a:spcBef>
              <a:spcAft>
                <a:spcPts val="0"/>
              </a:spcAft>
              <a:buSzPts val="1800"/>
              <a:buNone/>
            </a:pPr>
            <a:r>
              <a:rPr lang="en-US" sz="2000" b="1">
                <a:latin typeface="Times New Roman"/>
                <a:ea typeface="Times New Roman"/>
                <a:cs typeface="Times New Roman"/>
                <a:sym typeface="Times New Roman"/>
              </a:rPr>
              <a:t>4. Integration of the Model:</a:t>
            </a:r>
            <a:endParaRPr sz="2000" b="1">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Load trained models into the backend system. </a:t>
            </a:r>
            <a:endParaRPr sz="2000">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Ensure real-time processing of user input and predictions. </a:t>
            </a:r>
            <a:endParaRPr sz="2000">
              <a:latin typeface="Times New Roman"/>
              <a:ea typeface="Times New Roman"/>
              <a:cs typeface="Times New Roman"/>
              <a:sym typeface="Times New Roman"/>
            </a:endParaRPr>
          </a:p>
          <a:p>
            <a:pPr marL="0" marR="0" lvl="0" indent="0" algn="just" rtl="0">
              <a:lnSpc>
                <a:spcPct val="100000"/>
              </a:lnSpc>
              <a:spcBef>
                <a:spcPts val="0"/>
              </a:spcBef>
              <a:spcAft>
                <a:spcPts val="0"/>
              </a:spcAft>
              <a:buSzPts val="18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4"/>
          <p:cNvSpPr txBox="1">
            <a:spLocks noGrp="1"/>
          </p:cNvSpPr>
          <p:nvPr>
            <p:ph type="body" idx="1"/>
          </p:nvPr>
        </p:nvSpPr>
        <p:spPr>
          <a:xfrm>
            <a:off x="739877" y="917912"/>
            <a:ext cx="10712100" cy="4710000"/>
          </a:xfrm>
          <a:prstGeom prst="rect">
            <a:avLst/>
          </a:prstGeom>
          <a:noFill/>
          <a:ln>
            <a:noFill/>
          </a:ln>
        </p:spPr>
        <p:txBody>
          <a:bodyPr spcFirstLastPara="1" wrap="square" lIns="91425" tIns="45700" rIns="91425" bIns="45700" anchor="ctr" anchorCtr="0">
            <a:spAutoFit/>
          </a:bodyPr>
          <a:lstStyle/>
          <a:p>
            <a:pPr marL="0" lvl="0" indent="0" algn="just" rtl="0">
              <a:lnSpc>
                <a:spcPct val="100000"/>
              </a:lnSpc>
              <a:spcBef>
                <a:spcPts val="0"/>
              </a:spcBef>
              <a:spcAft>
                <a:spcPts val="0"/>
              </a:spcAft>
              <a:buClr>
                <a:schemeClr val="dk1"/>
              </a:buClr>
              <a:buSzPts val="1100"/>
              <a:buFont typeface="Arial"/>
              <a:buNone/>
            </a:pPr>
            <a:r>
              <a:rPr lang="en-US" sz="2000" b="1">
                <a:latin typeface="Times New Roman"/>
                <a:ea typeface="Times New Roman"/>
                <a:cs typeface="Times New Roman"/>
                <a:sym typeface="Times New Roman"/>
              </a:rPr>
              <a:t>5. Frontend Development:</a:t>
            </a:r>
            <a:endParaRPr sz="2000" b="1">
              <a:latin typeface="Times New Roman"/>
              <a:ea typeface="Times New Roman"/>
              <a:cs typeface="Times New Roman"/>
              <a:sym typeface="Times New Roman"/>
            </a:endParaRPr>
          </a:p>
          <a:p>
            <a:pPr marL="457200" lvl="0" indent="-355600" algn="just" rtl="0">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Develop an interactive interface using Flask. </a:t>
            </a:r>
            <a:endParaRPr sz="2000">
              <a:latin typeface="Times New Roman"/>
              <a:ea typeface="Times New Roman"/>
              <a:cs typeface="Times New Roman"/>
              <a:sym typeface="Times New Roman"/>
            </a:endParaRPr>
          </a:p>
          <a:p>
            <a:pPr marL="457200" lvl="0" indent="-355600" algn="just" rtl="0">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HTML, CSS, Java Script, Matplotlib-generated images</a:t>
            </a:r>
            <a:endParaRPr sz="2000">
              <a:latin typeface="Times New Roman"/>
              <a:ea typeface="Times New Roman"/>
              <a:cs typeface="Times New Roman"/>
              <a:sym typeface="Times New Roman"/>
            </a:endParaRPr>
          </a:p>
          <a:p>
            <a:pPr marL="457200" lvl="0" indent="0" algn="just" rtl="0">
              <a:lnSpc>
                <a:spcPct val="100000"/>
              </a:lnSpc>
              <a:spcBef>
                <a:spcPts val="0"/>
              </a:spcBef>
              <a:spcAft>
                <a:spcPts val="0"/>
              </a:spcAft>
              <a:buClr>
                <a:schemeClr val="dk1"/>
              </a:buClr>
              <a:buSzPts val="1100"/>
              <a:buFont typeface="Arial"/>
              <a:buNone/>
            </a:pPr>
            <a:endParaRPr sz="2000">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Font typeface="Arial"/>
              <a:buNone/>
            </a:pPr>
            <a:r>
              <a:rPr lang="en-US" sz="2000" b="1">
                <a:latin typeface="Times New Roman"/>
                <a:ea typeface="Times New Roman"/>
                <a:cs typeface="Times New Roman"/>
                <a:sym typeface="Times New Roman"/>
              </a:rPr>
              <a:t>6. Security and Data Privacy:</a:t>
            </a:r>
            <a:endParaRPr sz="2000" b="1">
              <a:latin typeface="Times New Roman"/>
              <a:ea typeface="Times New Roman"/>
              <a:cs typeface="Times New Roman"/>
              <a:sym typeface="Times New Roman"/>
            </a:endParaRPr>
          </a:p>
          <a:p>
            <a:pPr marL="457200" lvl="0" indent="-355600" algn="just" rtl="0">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Implement user authentication for secure access. </a:t>
            </a:r>
            <a:endParaRPr sz="2000">
              <a:latin typeface="Times New Roman"/>
              <a:ea typeface="Times New Roman"/>
              <a:cs typeface="Times New Roman"/>
              <a:sym typeface="Times New Roman"/>
            </a:endParaRPr>
          </a:p>
          <a:p>
            <a:pPr marL="457200" lvl="0" indent="-355600" algn="just" rtl="0">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Anonymize data and adhere to platform usage guidelines.</a:t>
            </a:r>
            <a:endParaRPr sz="2000">
              <a:latin typeface="Times New Roman"/>
              <a:ea typeface="Times New Roman"/>
              <a:cs typeface="Times New Roman"/>
              <a:sym typeface="Times New Roman"/>
            </a:endParaRPr>
          </a:p>
          <a:p>
            <a:pPr marL="457200" lvl="0" indent="0" algn="just" rtl="0">
              <a:lnSpc>
                <a:spcPct val="100000"/>
              </a:lnSpc>
              <a:spcBef>
                <a:spcPts val="0"/>
              </a:spcBef>
              <a:spcAft>
                <a:spcPts val="0"/>
              </a:spcAft>
              <a:buClr>
                <a:schemeClr val="dk1"/>
              </a:buClr>
              <a:buSzPts val="1100"/>
              <a:buFont typeface="Arial"/>
              <a:buNone/>
            </a:pPr>
            <a:r>
              <a:rPr lang="en-US"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Font typeface="Arial"/>
              <a:buNone/>
            </a:pPr>
            <a:r>
              <a:rPr lang="en-US" sz="2000" b="1">
                <a:latin typeface="Times New Roman"/>
                <a:ea typeface="Times New Roman"/>
                <a:cs typeface="Times New Roman"/>
                <a:sym typeface="Times New Roman"/>
              </a:rPr>
              <a:t>7. Performance Evaluation:</a:t>
            </a:r>
            <a:endParaRPr sz="2000" b="1">
              <a:latin typeface="Times New Roman"/>
              <a:ea typeface="Times New Roman"/>
              <a:cs typeface="Times New Roman"/>
              <a:sym typeface="Times New Roman"/>
            </a:endParaRPr>
          </a:p>
          <a:p>
            <a:pPr marL="457200" lvl="0" indent="-355600" algn="just" rtl="0">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Evaluate using metrics like accuracy, precision, and recall. </a:t>
            </a:r>
            <a:endParaRPr sz="2000">
              <a:latin typeface="Times New Roman"/>
              <a:ea typeface="Times New Roman"/>
              <a:cs typeface="Times New Roman"/>
              <a:sym typeface="Times New Roman"/>
            </a:endParaRPr>
          </a:p>
          <a:p>
            <a:pPr marL="457200" lvl="0" indent="-355600" algn="just" rtl="0">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Use cross-validation for model reliability. </a:t>
            </a:r>
            <a:endParaRPr sz="2000">
              <a:latin typeface="Times New Roman"/>
              <a:ea typeface="Times New Roman"/>
              <a:cs typeface="Times New Roman"/>
              <a:sym typeface="Times New Roman"/>
            </a:endParaRPr>
          </a:p>
          <a:p>
            <a:pPr marL="457200" lvl="0" indent="0" algn="just" rtl="0">
              <a:lnSpc>
                <a:spcPct val="100000"/>
              </a:lnSpc>
              <a:spcBef>
                <a:spcPts val="0"/>
              </a:spcBef>
              <a:spcAft>
                <a:spcPts val="0"/>
              </a:spcAft>
              <a:buClr>
                <a:schemeClr val="dk1"/>
              </a:buClr>
              <a:buSzPts val="1100"/>
              <a:buFont typeface="Arial"/>
              <a:buNone/>
            </a:pPr>
            <a:endParaRPr sz="2000">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Font typeface="Arial"/>
              <a:buNone/>
            </a:pPr>
            <a:r>
              <a:rPr lang="en-US" sz="2000" b="1">
                <a:latin typeface="Times New Roman"/>
                <a:ea typeface="Times New Roman"/>
                <a:cs typeface="Times New Roman"/>
                <a:sym typeface="Times New Roman"/>
              </a:rPr>
              <a:t>8. Deployment:</a:t>
            </a:r>
            <a:endParaRPr sz="2000">
              <a:latin typeface="Times New Roman"/>
              <a:ea typeface="Times New Roman"/>
              <a:cs typeface="Times New Roman"/>
              <a:sym typeface="Times New Roman"/>
            </a:endParaRPr>
          </a:p>
          <a:p>
            <a:pPr marL="457200" lvl="0" indent="-355600" algn="just" rtl="0">
              <a:lnSpc>
                <a:spcPct val="100000"/>
              </a:lnSpc>
              <a:spcBef>
                <a:spcPts val="0"/>
              </a:spcBef>
              <a:spcAft>
                <a:spcPts val="0"/>
              </a:spcAft>
              <a:buSzPts val="2000"/>
              <a:buFont typeface="Times New Roman"/>
              <a:buChar char="•"/>
            </a:pPr>
            <a:r>
              <a:rPr lang="en-US" sz="2000">
                <a:latin typeface="Times New Roman"/>
                <a:ea typeface="Times New Roman"/>
                <a:cs typeface="Times New Roman"/>
                <a:sym typeface="Times New Roman"/>
              </a:rPr>
              <a:t>Optimize for real-time performance and scalability</a:t>
            </a:r>
            <a:endParaRPr sz="2000">
              <a:latin typeface="Times New Roman"/>
              <a:ea typeface="Times New Roman"/>
              <a:cs typeface="Times New Roman"/>
              <a:sym typeface="Times New Roman"/>
            </a:endParaRPr>
          </a:p>
          <a:p>
            <a:pPr marL="0" marR="0" lvl="0" indent="0" algn="just" rtl="0">
              <a:lnSpc>
                <a:spcPct val="100000"/>
              </a:lnSpc>
              <a:spcBef>
                <a:spcPts val="0"/>
              </a:spcBef>
              <a:spcAft>
                <a:spcPts val="0"/>
              </a:spcAft>
              <a:buSzPts val="1800"/>
              <a:buNone/>
            </a:pPr>
            <a:endParaRPr sz="2000" b="1">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5"/>
          <p:cNvSpPr txBox="1">
            <a:spLocks noGrp="1"/>
          </p:cNvSpPr>
          <p:nvPr>
            <p:ph type="title"/>
          </p:nvPr>
        </p:nvSpPr>
        <p:spPr>
          <a:xfrm>
            <a:off x="838200" y="0"/>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400"/>
              <a:buFont typeface="Times New Roman"/>
              <a:buNone/>
            </a:pPr>
            <a:r>
              <a:rPr lang="en-US" sz="2400" b="1">
                <a:latin typeface="Times New Roman"/>
                <a:ea typeface="Times New Roman"/>
                <a:cs typeface="Times New Roman"/>
                <a:sym typeface="Times New Roman"/>
              </a:rPr>
              <a:t>SYSTEM DESIGN</a:t>
            </a:r>
            <a:endParaRPr sz="2400" b="1">
              <a:latin typeface="Times New Roman"/>
              <a:ea typeface="Times New Roman"/>
              <a:cs typeface="Times New Roman"/>
              <a:sym typeface="Times New Roman"/>
            </a:endParaRPr>
          </a:p>
        </p:txBody>
      </p:sp>
      <p:pic>
        <p:nvPicPr>
          <p:cNvPr id="160" name="Google Shape;160;p25"/>
          <p:cNvPicPr preferRelativeResize="0"/>
          <p:nvPr/>
        </p:nvPicPr>
        <p:blipFill rotWithShape="1">
          <a:blip r:embed="rId3">
            <a:alphaModFix/>
          </a:blip>
          <a:srcRect/>
          <a:stretch/>
        </p:blipFill>
        <p:spPr>
          <a:xfrm>
            <a:off x="2484900" y="1021600"/>
            <a:ext cx="7222200" cy="4814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6"/>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400"/>
              <a:buFont typeface="Times New Roman"/>
              <a:buNone/>
            </a:pPr>
            <a:r>
              <a:rPr lang="en-US" sz="2400" b="1">
                <a:latin typeface="Times New Roman"/>
                <a:ea typeface="Times New Roman"/>
                <a:cs typeface="Times New Roman"/>
                <a:sym typeface="Times New Roman"/>
              </a:rPr>
              <a:t>SYSTEM REQUIREMENTS</a:t>
            </a:r>
            <a:endParaRPr sz="2400" b="1">
              <a:latin typeface="Times New Roman"/>
              <a:ea typeface="Times New Roman"/>
              <a:cs typeface="Times New Roman"/>
              <a:sym typeface="Times New Roman"/>
            </a:endParaRPr>
          </a:p>
        </p:txBody>
      </p:sp>
      <p:sp>
        <p:nvSpPr>
          <p:cNvPr id="166" name="Google Shape;166;p26"/>
          <p:cNvSpPr txBox="1">
            <a:spLocks noGrp="1"/>
          </p:cNvSpPr>
          <p:nvPr>
            <p:ph type="body" idx="1"/>
          </p:nvPr>
        </p:nvSpPr>
        <p:spPr>
          <a:xfrm>
            <a:off x="971350" y="916496"/>
            <a:ext cx="10515600" cy="5941500"/>
          </a:xfrm>
          <a:prstGeom prst="rect">
            <a:avLst/>
          </a:prstGeom>
          <a:noFill/>
          <a:ln>
            <a:noFill/>
          </a:ln>
        </p:spPr>
        <p:txBody>
          <a:bodyPr spcFirstLastPara="1" wrap="square" lIns="91425" tIns="45700" rIns="91425" bIns="45700" anchor="ctr" anchorCtr="0">
            <a:spAutoFit/>
          </a:bodyPr>
          <a:lstStyle/>
          <a:p>
            <a:pPr marL="0" lvl="0" indent="0" algn="just" rtl="0">
              <a:lnSpc>
                <a:spcPct val="150000"/>
              </a:lnSpc>
              <a:spcBef>
                <a:spcPts val="0"/>
              </a:spcBef>
              <a:spcAft>
                <a:spcPts val="0"/>
              </a:spcAft>
              <a:buClr>
                <a:schemeClr val="dk1"/>
              </a:buClr>
              <a:buSzPts val="1100"/>
              <a:buFont typeface="Arial"/>
              <a:buNone/>
            </a:pPr>
            <a:r>
              <a:rPr lang="en-US" sz="2000" b="1">
                <a:latin typeface="Times New Roman"/>
                <a:ea typeface="Times New Roman"/>
                <a:cs typeface="Times New Roman"/>
                <a:sym typeface="Times New Roman"/>
              </a:rPr>
              <a:t>HARDWARE REQUIREMENTS:</a:t>
            </a:r>
            <a:endParaRPr sz="2000" b="1">
              <a:latin typeface="Times New Roman"/>
              <a:ea typeface="Times New Roman"/>
              <a:cs typeface="Times New Roman"/>
              <a:sym typeface="Times New Roman"/>
            </a:endParaRPr>
          </a:p>
          <a:p>
            <a:pPr marL="914400" lvl="0" indent="0" algn="just" rtl="0">
              <a:lnSpc>
                <a:spcPct val="150000"/>
              </a:lnSpc>
              <a:spcBef>
                <a:spcPts val="0"/>
              </a:spcBef>
              <a:spcAft>
                <a:spcPts val="0"/>
              </a:spcAft>
              <a:buClr>
                <a:schemeClr val="dk1"/>
              </a:buClr>
              <a:buSzPts val="1100"/>
              <a:buFont typeface="Arial"/>
              <a:buNone/>
            </a:pPr>
            <a:r>
              <a:rPr lang="en-US" sz="2000" b="1">
                <a:latin typeface="Times New Roman"/>
                <a:ea typeface="Times New Roman"/>
                <a:cs typeface="Times New Roman"/>
                <a:sym typeface="Times New Roman"/>
              </a:rPr>
              <a:t>. </a:t>
            </a:r>
            <a:r>
              <a:rPr lang="en-US" sz="2000">
                <a:latin typeface="Times New Roman"/>
                <a:ea typeface="Times New Roman"/>
                <a:cs typeface="Times New Roman"/>
                <a:sym typeface="Times New Roman"/>
              </a:rPr>
              <a:t>System                         	:     	Pentium Dual Core.</a:t>
            </a:r>
            <a:endParaRPr sz="2000">
              <a:latin typeface="Times New Roman"/>
              <a:ea typeface="Times New Roman"/>
              <a:cs typeface="Times New Roman"/>
              <a:sym typeface="Times New Roman"/>
            </a:endParaRPr>
          </a:p>
          <a:p>
            <a:pPr marL="914400" lvl="0" indent="0" algn="just" rtl="0">
              <a:lnSpc>
                <a:spcPct val="150000"/>
              </a:lnSpc>
              <a:spcBef>
                <a:spcPts val="0"/>
              </a:spcBef>
              <a:spcAft>
                <a:spcPts val="0"/>
              </a:spcAft>
              <a:buClr>
                <a:schemeClr val="dk1"/>
              </a:buClr>
              <a:buSzPts val="1100"/>
              <a:buFont typeface="Arial"/>
              <a:buNone/>
            </a:pPr>
            <a:r>
              <a:rPr lang="en-US" sz="2000" b="1">
                <a:latin typeface="Times New Roman"/>
                <a:ea typeface="Times New Roman"/>
                <a:cs typeface="Times New Roman"/>
                <a:sym typeface="Times New Roman"/>
              </a:rPr>
              <a:t>.</a:t>
            </a:r>
            <a:r>
              <a:rPr lang="en-US" sz="2000">
                <a:latin typeface="Times New Roman"/>
                <a:ea typeface="Times New Roman"/>
                <a:cs typeface="Times New Roman"/>
                <a:sym typeface="Times New Roman"/>
              </a:rPr>
              <a:t> Hard Disk                    	:     	120 GB.</a:t>
            </a:r>
            <a:endParaRPr sz="2000">
              <a:latin typeface="Times New Roman"/>
              <a:ea typeface="Times New Roman"/>
              <a:cs typeface="Times New Roman"/>
              <a:sym typeface="Times New Roman"/>
            </a:endParaRPr>
          </a:p>
          <a:p>
            <a:pPr marL="914400" lvl="0" indent="0" algn="just" rtl="0">
              <a:lnSpc>
                <a:spcPct val="150000"/>
              </a:lnSpc>
              <a:spcBef>
                <a:spcPts val="0"/>
              </a:spcBef>
              <a:spcAft>
                <a:spcPts val="0"/>
              </a:spcAft>
              <a:buClr>
                <a:schemeClr val="dk1"/>
              </a:buClr>
              <a:buSzPts val="1100"/>
              <a:buFont typeface="Arial"/>
              <a:buNone/>
            </a:pPr>
            <a:r>
              <a:rPr lang="en-US" sz="2000" b="1">
                <a:latin typeface="Times New Roman"/>
                <a:ea typeface="Times New Roman"/>
                <a:cs typeface="Times New Roman"/>
                <a:sym typeface="Times New Roman"/>
              </a:rPr>
              <a:t>.</a:t>
            </a:r>
            <a:r>
              <a:rPr lang="en-US" sz="2000">
                <a:latin typeface="Times New Roman"/>
                <a:ea typeface="Times New Roman"/>
                <a:cs typeface="Times New Roman"/>
                <a:sym typeface="Times New Roman"/>
              </a:rPr>
              <a:t> Monitor                       	:     	15’’ LED</a:t>
            </a:r>
            <a:endParaRPr sz="2000">
              <a:latin typeface="Times New Roman"/>
              <a:ea typeface="Times New Roman"/>
              <a:cs typeface="Times New Roman"/>
              <a:sym typeface="Times New Roman"/>
            </a:endParaRPr>
          </a:p>
          <a:p>
            <a:pPr marL="914400" lvl="0" indent="0" algn="just" rtl="0">
              <a:lnSpc>
                <a:spcPct val="150000"/>
              </a:lnSpc>
              <a:spcBef>
                <a:spcPts val="0"/>
              </a:spcBef>
              <a:spcAft>
                <a:spcPts val="0"/>
              </a:spcAft>
              <a:buClr>
                <a:schemeClr val="dk1"/>
              </a:buClr>
              <a:buSzPts val="1100"/>
              <a:buFont typeface="Arial"/>
              <a:buNone/>
            </a:pPr>
            <a:r>
              <a:rPr lang="en-US" sz="2000" b="1">
                <a:latin typeface="Times New Roman"/>
                <a:ea typeface="Times New Roman"/>
                <a:cs typeface="Times New Roman"/>
                <a:sym typeface="Times New Roman"/>
              </a:rPr>
              <a:t>.</a:t>
            </a:r>
            <a:r>
              <a:rPr lang="en-US" sz="2000">
                <a:latin typeface="Times New Roman"/>
                <a:ea typeface="Times New Roman"/>
                <a:cs typeface="Times New Roman"/>
                <a:sym typeface="Times New Roman"/>
              </a:rPr>
              <a:t> Input Devices               	:     	Keyboard, Mouse</a:t>
            </a:r>
            <a:endParaRPr sz="2000">
              <a:latin typeface="Times New Roman"/>
              <a:ea typeface="Times New Roman"/>
              <a:cs typeface="Times New Roman"/>
              <a:sym typeface="Times New Roman"/>
            </a:endParaRPr>
          </a:p>
          <a:p>
            <a:pPr marL="914400" lvl="0" indent="0" algn="just" rtl="0">
              <a:lnSpc>
                <a:spcPct val="150000"/>
              </a:lnSpc>
              <a:spcBef>
                <a:spcPts val="0"/>
              </a:spcBef>
              <a:spcAft>
                <a:spcPts val="0"/>
              </a:spcAft>
              <a:buClr>
                <a:schemeClr val="dk1"/>
              </a:buClr>
              <a:buSzPts val="1100"/>
              <a:buFont typeface="Arial"/>
              <a:buNone/>
            </a:pPr>
            <a:r>
              <a:rPr lang="en-US" sz="2000" b="1">
                <a:latin typeface="Times New Roman"/>
                <a:ea typeface="Times New Roman"/>
                <a:cs typeface="Times New Roman"/>
                <a:sym typeface="Times New Roman"/>
              </a:rPr>
              <a:t>.</a:t>
            </a:r>
            <a:r>
              <a:rPr lang="en-US" sz="2000">
                <a:latin typeface="Times New Roman"/>
                <a:ea typeface="Times New Roman"/>
                <a:cs typeface="Times New Roman"/>
                <a:sym typeface="Times New Roman"/>
              </a:rPr>
              <a:t> Ram                             	:     	1 GB</a:t>
            </a:r>
            <a:endParaRPr sz="2000">
              <a:latin typeface="Times New Roman"/>
              <a:ea typeface="Times New Roman"/>
              <a:cs typeface="Times New Roman"/>
              <a:sym typeface="Times New Roman"/>
            </a:endParaRPr>
          </a:p>
          <a:p>
            <a:pPr marL="0" lvl="0" indent="0" algn="just" rtl="0">
              <a:lnSpc>
                <a:spcPct val="150000"/>
              </a:lnSpc>
              <a:spcBef>
                <a:spcPts val="0"/>
              </a:spcBef>
              <a:spcAft>
                <a:spcPts val="0"/>
              </a:spcAft>
              <a:buClr>
                <a:schemeClr val="dk1"/>
              </a:buClr>
              <a:buSzPts val="1100"/>
              <a:buFont typeface="Arial"/>
              <a:buNone/>
            </a:pPr>
            <a:r>
              <a:rPr lang="en-US" sz="2000" b="1">
                <a:latin typeface="Times New Roman"/>
                <a:ea typeface="Times New Roman"/>
                <a:cs typeface="Times New Roman"/>
                <a:sym typeface="Times New Roman"/>
              </a:rPr>
              <a:t>SOFTWARE REQUIREMENTS</a:t>
            </a:r>
            <a:r>
              <a:rPr lang="en-US" sz="2000" b="1" u="sng">
                <a:latin typeface="Times New Roman"/>
                <a:ea typeface="Times New Roman"/>
                <a:cs typeface="Times New Roman"/>
                <a:sym typeface="Times New Roman"/>
              </a:rPr>
              <a:t>:</a:t>
            </a:r>
            <a:endParaRPr sz="2000" b="1">
              <a:latin typeface="Times New Roman"/>
              <a:ea typeface="Times New Roman"/>
              <a:cs typeface="Times New Roman"/>
              <a:sym typeface="Times New Roman"/>
            </a:endParaRPr>
          </a:p>
          <a:p>
            <a:pPr marL="914400" lvl="0" indent="0" algn="just" rtl="0">
              <a:lnSpc>
                <a:spcPct val="150000"/>
              </a:lnSpc>
              <a:spcBef>
                <a:spcPts val="0"/>
              </a:spcBef>
              <a:spcAft>
                <a:spcPts val="0"/>
              </a:spcAft>
              <a:buClr>
                <a:schemeClr val="dk1"/>
              </a:buClr>
              <a:buSzPts val="1100"/>
              <a:buFont typeface="Arial"/>
              <a:buNone/>
            </a:pPr>
            <a:r>
              <a:rPr lang="en-US" sz="2000" b="1">
                <a:latin typeface="Times New Roman"/>
                <a:ea typeface="Times New Roman"/>
                <a:cs typeface="Times New Roman"/>
                <a:sym typeface="Times New Roman"/>
              </a:rPr>
              <a:t>.</a:t>
            </a:r>
            <a:r>
              <a:rPr lang="en-US" sz="2000">
                <a:latin typeface="Times New Roman"/>
                <a:ea typeface="Times New Roman"/>
                <a:cs typeface="Times New Roman"/>
                <a:sym typeface="Times New Roman"/>
              </a:rPr>
              <a:t> Operating system         	:     	Windows 11.</a:t>
            </a:r>
            <a:endParaRPr sz="2000">
              <a:latin typeface="Times New Roman"/>
              <a:ea typeface="Times New Roman"/>
              <a:cs typeface="Times New Roman"/>
              <a:sym typeface="Times New Roman"/>
            </a:endParaRPr>
          </a:p>
          <a:p>
            <a:pPr marL="914400" lvl="0" indent="0" algn="just" rtl="0">
              <a:lnSpc>
                <a:spcPct val="150000"/>
              </a:lnSpc>
              <a:spcBef>
                <a:spcPts val="0"/>
              </a:spcBef>
              <a:spcAft>
                <a:spcPts val="0"/>
              </a:spcAft>
              <a:buClr>
                <a:schemeClr val="dk1"/>
              </a:buClr>
              <a:buSzPts val="1100"/>
              <a:buFont typeface="Arial"/>
              <a:buNone/>
            </a:pPr>
            <a:r>
              <a:rPr lang="en-US" sz="2000" b="1">
                <a:latin typeface="Times New Roman"/>
                <a:ea typeface="Times New Roman"/>
                <a:cs typeface="Times New Roman"/>
                <a:sym typeface="Times New Roman"/>
              </a:rPr>
              <a:t>.</a:t>
            </a:r>
            <a:r>
              <a:rPr lang="en-US" sz="2000">
                <a:latin typeface="Times New Roman"/>
                <a:ea typeface="Times New Roman"/>
                <a:cs typeface="Times New Roman"/>
                <a:sym typeface="Times New Roman"/>
              </a:rPr>
              <a:t> Coding Language        	:     	python</a:t>
            </a:r>
            <a:endParaRPr sz="2000">
              <a:latin typeface="Times New Roman"/>
              <a:ea typeface="Times New Roman"/>
              <a:cs typeface="Times New Roman"/>
              <a:sym typeface="Times New Roman"/>
            </a:endParaRPr>
          </a:p>
          <a:p>
            <a:pPr marL="914400" lvl="0" indent="0" algn="just" rtl="0">
              <a:lnSpc>
                <a:spcPct val="150000"/>
              </a:lnSpc>
              <a:spcBef>
                <a:spcPts val="0"/>
              </a:spcBef>
              <a:spcAft>
                <a:spcPts val="0"/>
              </a:spcAft>
              <a:buClr>
                <a:schemeClr val="dk1"/>
              </a:buClr>
              <a:buSzPts val="1100"/>
              <a:buFont typeface="Arial"/>
              <a:buNone/>
            </a:pPr>
            <a:r>
              <a:rPr lang="en-US" sz="2000" b="1">
                <a:latin typeface="Times New Roman"/>
                <a:ea typeface="Times New Roman"/>
                <a:cs typeface="Times New Roman"/>
                <a:sym typeface="Times New Roman"/>
              </a:rPr>
              <a:t>.</a:t>
            </a:r>
            <a:r>
              <a:rPr lang="en-US" sz="2000">
                <a:latin typeface="Times New Roman"/>
                <a:ea typeface="Times New Roman"/>
                <a:cs typeface="Times New Roman"/>
                <a:sym typeface="Times New Roman"/>
              </a:rPr>
              <a:t> Tool                             	:     	pycharm</a:t>
            </a:r>
            <a:endParaRPr sz="2000">
              <a:latin typeface="Times New Roman"/>
              <a:ea typeface="Times New Roman"/>
              <a:cs typeface="Times New Roman"/>
              <a:sym typeface="Times New Roman"/>
            </a:endParaRPr>
          </a:p>
          <a:p>
            <a:pPr marL="914400" lvl="0" indent="0" algn="just" rtl="0">
              <a:lnSpc>
                <a:spcPct val="150000"/>
              </a:lnSpc>
              <a:spcBef>
                <a:spcPts val="0"/>
              </a:spcBef>
              <a:spcAft>
                <a:spcPts val="0"/>
              </a:spcAft>
              <a:buClr>
                <a:schemeClr val="dk1"/>
              </a:buClr>
              <a:buSzPts val="1100"/>
              <a:buFont typeface="Arial"/>
              <a:buNone/>
            </a:pPr>
            <a:r>
              <a:rPr lang="en-US" sz="2000" b="1">
                <a:latin typeface="Times New Roman"/>
                <a:ea typeface="Times New Roman"/>
                <a:cs typeface="Times New Roman"/>
                <a:sym typeface="Times New Roman"/>
              </a:rPr>
              <a:t>.</a:t>
            </a:r>
            <a:r>
              <a:rPr lang="en-US" sz="2000">
                <a:latin typeface="Times New Roman"/>
                <a:ea typeface="Times New Roman"/>
                <a:cs typeface="Times New Roman"/>
                <a:sym typeface="Times New Roman"/>
              </a:rPr>
              <a:t> framework                   	:     	flask</a:t>
            </a:r>
            <a:endParaRPr sz="2000">
              <a:latin typeface="Times New Roman"/>
              <a:ea typeface="Times New Roman"/>
              <a:cs typeface="Times New Roman"/>
              <a:sym typeface="Times New Roman"/>
            </a:endParaRPr>
          </a:p>
          <a:p>
            <a:pPr marL="914400" lvl="0" indent="0" algn="just" rtl="0">
              <a:lnSpc>
                <a:spcPct val="150000"/>
              </a:lnSpc>
              <a:spcBef>
                <a:spcPts val="0"/>
              </a:spcBef>
              <a:spcAft>
                <a:spcPts val="0"/>
              </a:spcAft>
              <a:buClr>
                <a:schemeClr val="dk1"/>
              </a:buClr>
              <a:buSzPts val="1100"/>
              <a:buFont typeface="Arial"/>
              <a:buNone/>
            </a:pPr>
            <a:r>
              <a:rPr lang="en-US" sz="2000" b="1">
                <a:latin typeface="Times New Roman"/>
                <a:ea typeface="Times New Roman"/>
                <a:cs typeface="Times New Roman"/>
                <a:sym typeface="Times New Roman"/>
              </a:rPr>
              <a:t>.</a:t>
            </a:r>
            <a:r>
              <a:rPr lang="en-US" sz="2000">
                <a:latin typeface="Times New Roman"/>
                <a:ea typeface="Times New Roman"/>
                <a:cs typeface="Times New Roman"/>
                <a:sym typeface="Times New Roman"/>
              </a:rPr>
              <a:t> Technologies               	:     	Machine Learning</a:t>
            </a:r>
            <a:endParaRPr sz="2000">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000"/>
              <a:buFont typeface="Times New Roman"/>
              <a:buNone/>
            </a:pPr>
            <a:endParaRPr sz="20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7"/>
          <p:cNvSpPr txBox="1">
            <a:spLocks noGrp="1"/>
          </p:cNvSpPr>
          <p:nvPr>
            <p:ph type="title"/>
          </p:nvPr>
        </p:nvSpPr>
        <p:spPr>
          <a:xfrm>
            <a:off x="838200" y="0"/>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400"/>
              <a:buFont typeface="Times New Roman"/>
              <a:buNone/>
            </a:pPr>
            <a:r>
              <a:rPr lang="en-US" sz="2400" b="1">
                <a:latin typeface="Times New Roman"/>
                <a:ea typeface="Times New Roman"/>
                <a:cs typeface="Times New Roman"/>
                <a:sym typeface="Times New Roman"/>
              </a:rPr>
              <a:t>RESULT</a:t>
            </a:r>
            <a:endParaRPr sz="2400" b="1">
              <a:latin typeface="Times New Roman"/>
              <a:ea typeface="Times New Roman"/>
              <a:cs typeface="Times New Roman"/>
              <a:sym typeface="Times New Roman"/>
            </a:endParaRPr>
          </a:p>
        </p:txBody>
      </p:sp>
      <p:pic>
        <p:nvPicPr>
          <p:cNvPr id="172" name="Google Shape;172;p27" title="Screenshot 2025-05-23 111041.png"/>
          <p:cNvPicPr preferRelativeResize="0"/>
          <p:nvPr/>
        </p:nvPicPr>
        <p:blipFill rotWithShape="1">
          <a:blip r:embed="rId3">
            <a:alphaModFix/>
          </a:blip>
          <a:srcRect/>
          <a:stretch/>
        </p:blipFill>
        <p:spPr>
          <a:xfrm>
            <a:off x="1044725" y="1038513"/>
            <a:ext cx="10102556" cy="522763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pic>
        <p:nvPicPr>
          <p:cNvPr id="177" name="Google Shape;177;p28" title="Screenshot 2025-05-23 111143.png"/>
          <p:cNvPicPr preferRelativeResize="0"/>
          <p:nvPr/>
        </p:nvPicPr>
        <p:blipFill rotWithShape="1">
          <a:blip r:embed="rId3">
            <a:alphaModFix/>
          </a:blip>
          <a:srcRect/>
          <a:stretch/>
        </p:blipFill>
        <p:spPr>
          <a:xfrm>
            <a:off x="2233288" y="740550"/>
            <a:ext cx="7725426" cy="5376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pic>
        <p:nvPicPr>
          <p:cNvPr id="182" name="Google Shape;182;p29" title="Screenshot 2025-05-23 111159.png"/>
          <p:cNvPicPr preferRelativeResize="0"/>
          <p:nvPr/>
        </p:nvPicPr>
        <p:blipFill rotWithShape="1">
          <a:blip r:embed="rId3">
            <a:alphaModFix/>
          </a:blip>
          <a:srcRect/>
          <a:stretch/>
        </p:blipFill>
        <p:spPr>
          <a:xfrm>
            <a:off x="1731572" y="909063"/>
            <a:ext cx="8728850" cy="50398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pic>
        <p:nvPicPr>
          <p:cNvPr id="187" name="Google Shape;187;p30" title="Screenshot 2025-05-23 111552.png"/>
          <p:cNvPicPr preferRelativeResize="0"/>
          <p:nvPr/>
        </p:nvPicPr>
        <p:blipFill rotWithShape="1">
          <a:blip r:embed="rId3">
            <a:alphaModFix/>
          </a:blip>
          <a:srcRect/>
          <a:stretch/>
        </p:blipFill>
        <p:spPr>
          <a:xfrm>
            <a:off x="1777013" y="937425"/>
            <a:ext cx="8637975" cy="49831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1"/>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115000"/>
              </a:lnSpc>
              <a:spcBef>
                <a:spcPts val="1200"/>
              </a:spcBef>
              <a:spcAft>
                <a:spcPts val="1200"/>
              </a:spcAft>
              <a:buClr>
                <a:schemeClr val="dk1"/>
              </a:buClr>
              <a:buSzPts val="1100"/>
              <a:buFont typeface="Arial"/>
              <a:buNone/>
            </a:pPr>
            <a:r>
              <a:rPr lang="en-US" sz="2400" b="1">
                <a:latin typeface="Times New Roman"/>
                <a:ea typeface="Times New Roman"/>
                <a:cs typeface="Times New Roman"/>
                <a:sym typeface="Times New Roman"/>
              </a:rPr>
              <a:t>FUTURE ENHANCEMENT</a:t>
            </a:r>
            <a:endParaRPr sz="2400" b="1">
              <a:latin typeface="Times New Roman"/>
              <a:ea typeface="Times New Roman"/>
              <a:cs typeface="Times New Roman"/>
              <a:sym typeface="Times New Roman"/>
            </a:endParaRPr>
          </a:p>
        </p:txBody>
      </p:sp>
      <p:sp>
        <p:nvSpPr>
          <p:cNvPr id="193" name="Google Shape;193;p31"/>
          <p:cNvSpPr txBox="1">
            <a:spLocks noGrp="1"/>
          </p:cNvSpPr>
          <p:nvPr>
            <p:ph type="body" idx="1"/>
          </p:nvPr>
        </p:nvSpPr>
        <p:spPr>
          <a:xfrm>
            <a:off x="838200" y="1325563"/>
            <a:ext cx="10515600" cy="1970100"/>
          </a:xfrm>
          <a:prstGeom prst="rect">
            <a:avLst/>
          </a:prstGeom>
          <a:noFill/>
          <a:ln>
            <a:noFill/>
          </a:ln>
        </p:spPr>
        <p:txBody>
          <a:bodyPr spcFirstLastPara="1" wrap="square" lIns="91425" tIns="45700" rIns="91425" bIns="45700" anchor="ctr" anchorCtr="0">
            <a:spAutoFit/>
          </a:bodyPr>
          <a:lstStyle/>
          <a:p>
            <a:pPr marL="0" lvl="0" indent="0" algn="just" rtl="0">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Future enhancements can include deep learning models such as BERT or LSTM for improved sentiment understanding, real-time sentiment tracking, multilingual sentiment analysis, and integration with social media APIs for live data streaming. Additional modules could also be developed for topic modeling, influencer analysis, and emotion detection.</a:t>
            </a:r>
            <a:endParaRPr sz="2000">
              <a:latin typeface="Times New Roman"/>
              <a:ea typeface="Times New Roman"/>
              <a:cs typeface="Times New Roman"/>
              <a:sym typeface="Times New Roman"/>
            </a:endParaRPr>
          </a:p>
          <a:p>
            <a:pPr marL="0" marR="0" lvl="0" indent="0" algn="just" rtl="0">
              <a:lnSpc>
                <a:spcPct val="100000"/>
              </a:lnSpc>
              <a:spcBef>
                <a:spcPts val="1200"/>
              </a:spcBef>
              <a:spcAft>
                <a:spcPts val="0"/>
              </a:spcAft>
              <a:buClr>
                <a:schemeClr val="dk1"/>
              </a:buClr>
              <a:buSzPts val="2000"/>
              <a:buFont typeface="Times New Roman"/>
              <a:buNone/>
            </a:pPr>
            <a:endParaRPr sz="20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2"/>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115000"/>
              </a:lnSpc>
              <a:spcBef>
                <a:spcPts val="1200"/>
              </a:spcBef>
              <a:spcAft>
                <a:spcPts val="1200"/>
              </a:spcAft>
              <a:buClr>
                <a:schemeClr val="dk1"/>
              </a:buClr>
              <a:buSzPts val="1100"/>
              <a:buFont typeface="Arial"/>
              <a:buNone/>
            </a:pPr>
            <a:r>
              <a:rPr lang="en-US" sz="2400" b="1">
                <a:latin typeface="Times New Roman"/>
                <a:ea typeface="Times New Roman"/>
                <a:cs typeface="Times New Roman"/>
                <a:sym typeface="Times New Roman"/>
              </a:rPr>
              <a:t>APPLICATIONS</a:t>
            </a:r>
            <a:endParaRPr sz="2400" b="1">
              <a:latin typeface="Times New Roman"/>
              <a:ea typeface="Times New Roman"/>
              <a:cs typeface="Times New Roman"/>
              <a:sym typeface="Times New Roman"/>
            </a:endParaRPr>
          </a:p>
        </p:txBody>
      </p:sp>
      <p:sp>
        <p:nvSpPr>
          <p:cNvPr id="199" name="Google Shape;199;p32"/>
          <p:cNvSpPr txBox="1">
            <a:spLocks noGrp="1"/>
          </p:cNvSpPr>
          <p:nvPr>
            <p:ph type="body" idx="1"/>
          </p:nvPr>
        </p:nvSpPr>
        <p:spPr>
          <a:xfrm>
            <a:off x="838200" y="1325563"/>
            <a:ext cx="10515600" cy="2940000"/>
          </a:xfrm>
          <a:prstGeom prst="rect">
            <a:avLst/>
          </a:prstGeom>
          <a:noFill/>
          <a:ln>
            <a:noFill/>
          </a:ln>
        </p:spPr>
        <p:txBody>
          <a:bodyPr spcFirstLastPara="1" wrap="square" lIns="91425" tIns="45700" rIns="91425" bIns="45700" anchor="ctr" anchorCtr="0">
            <a:spAutoFit/>
          </a:bodyPr>
          <a:lstStyle/>
          <a:p>
            <a:pPr marL="0" lvl="0" indent="0" algn="just" rtl="0">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 </a:t>
            </a:r>
            <a:r>
              <a:rPr lang="en-US" sz="2000" b="1">
                <a:latin typeface="Times New Roman"/>
                <a:ea typeface="Times New Roman"/>
                <a:cs typeface="Times New Roman"/>
                <a:sym typeface="Times New Roman"/>
              </a:rPr>
              <a:t>Businesses &amp; brands:</a:t>
            </a:r>
            <a:r>
              <a:rPr lang="en-US" sz="2000">
                <a:latin typeface="Times New Roman"/>
                <a:ea typeface="Times New Roman"/>
                <a:cs typeface="Times New Roman"/>
                <a:sym typeface="Times New Roman"/>
              </a:rPr>
              <a:t> to understand customer opinion and market trends</a:t>
            </a:r>
            <a:endParaRPr sz="200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 </a:t>
            </a:r>
            <a:r>
              <a:rPr lang="en-US" sz="2000" b="1">
                <a:latin typeface="Times New Roman"/>
                <a:ea typeface="Times New Roman"/>
                <a:cs typeface="Times New Roman"/>
                <a:sym typeface="Times New Roman"/>
              </a:rPr>
              <a:t>Influencers:</a:t>
            </a:r>
            <a:r>
              <a:rPr lang="en-US" sz="2000">
                <a:latin typeface="Times New Roman"/>
                <a:ea typeface="Times New Roman"/>
                <a:cs typeface="Times New Roman"/>
                <a:sym typeface="Times New Roman"/>
              </a:rPr>
              <a:t> to analyze what kind of posts get better reach and engagement</a:t>
            </a:r>
            <a:endParaRPr sz="200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 </a:t>
            </a:r>
            <a:r>
              <a:rPr lang="en-US" sz="2000" b="1">
                <a:latin typeface="Times New Roman"/>
                <a:ea typeface="Times New Roman"/>
                <a:cs typeface="Times New Roman"/>
                <a:sym typeface="Times New Roman"/>
              </a:rPr>
              <a:t>Researchers: </a:t>
            </a:r>
            <a:r>
              <a:rPr lang="en-US" sz="2000">
                <a:latin typeface="Times New Roman"/>
                <a:ea typeface="Times New Roman"/>
                <a:cs typeface="Times New Roman"/>
                <a:sym typeface="Times New Roman"/>
              </a:rPr>
              <a:t>to study public sentiment on issues and events</a:t>
            </a:r>
            <a:endParaRPr sz="200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 </a:t>
            </a:r>
            <a:r>
              <a:rPr lang="en-US" sz="2000" b="1">
                <a:latin typeface="Times New Roman"/>
                <a:ea typeface="Times New Roman"/>
                <a:cs typeface="Times New Roman"/>
                <a:sym typeface="Times New Roman"/>
              </a:rPr>
              <a:t>Marketing teams:</a:t>
            </a:r>
            <a:r>
              <a:rPr lang="en-US" sz="2000">
                <a:latin typeface="Times New Roman"/>
                <a:ea typeface="Times New Roman"/>
                <a:cs typeface="Times New Roman"/>
                <a:sym typeface="Times New Roman"/>
              </a:rPr>
              <a:t> to plan content based on audience mood and trends</a:t>
            </a:r>
            <a:endParaRPr sz="2000">
              <a:latin typeface="Times New Roman"/>
              <a:ea typeface="Times New Roman"/>
              <a:cs typeface="Times New Roman"/>
              <a:sym typeface="Times New Roman"/>
            </a:endParaRPr>
          </a:p>
          <a:p>
            <a:pPr marL="0" lvl="0" indent="0" algn="just" rtl="0">
              <a:lnSpc>
                <a:spcPct val="115000"/>
              </a:lnSpc>
              <a:spcBef>
                <a:spcPts val="1200"/>
              </a:spcBef>
              <a:spcAft>
                <a:spcPts val="0"/>
              </a:spcAft>
              <a:buClr>
                <a:schemeClr val="dk1"/>
              </a:buClr>
              <a:buSzPts val="1100"/>
              <a:buFont typeface="Arial"/>
              <a:buNone/>
            </a:pPr>
            <a:endParaRPr sz="2000">
              <a:latin typeface="Times New Roman"/>
              <a:ea typeface="Times New Roman"/>
              <a:cs typeface="Times New Roman"/>
              <a:sym typeface="Times New Roman"/>
            </a:endParaRPr>
          </a:p>
          <a:p>
            <a:pPr marL="0" marR="0" lvl="0" indent="0" algn="just" rtl="0">
              <a:lnSpc>
                <a:spcPct val="100000"/>
              </a:lnSpc>
              <a:spcBef>
                <a:spcPts val="1200"/>
              </a:spcBef>
              <a:spcAft>
                <a:spcPts val="0"/>
              </a:spcAft>
              <a:buClr>
                <a:schemeClr val="dk1"/>
              </a:buClr>
              <a:buSzPts val="2000"/>
              <a:buFont typeface="Times New Roman"/>
              <a:buNone/>
            </a:pPr>
            <a:endParaRPr sz="200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3"/>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115000"/>
              </a:lnSpc>
              <a:spcBef>
                <a:spcPts val="1200"/>
              </a:spcBef>
              <a:spcAft>
                <a:spcPts val="1200"/>
              </a:spcAft>
              <a:buClr>
                <a:schemeClr val="dk1"/>
              </a:buClr>
              <a:buSzPts val="1100"/>
              <a:buFont typeface="Arial"/>
              <a:buNone/>
            </a:pPr>
            <a:r>
              <a:rPr lang="en-US" sz="2400" b="1">
                <a:latin typeface="Times New Roman"/>
                <a:ea typeface="Times New Roman"/>
                <a:cs typeface="Times New Roman"/>
                <a:sym typeface="Times New Roman"/>
              </a:rPr>
              <a:t>CONCLUSION</a:t>
            </a:r>
            <a:endParaRPr sz="2400" b="1">
              <a:latin typeface="Times New Roman"/>
              <a:ea typeface="Times New Roman"/>
              <a:cs typeface="Times New Roman"/>
              <a:sym typeface="Times New Roman"/>
            </a:endParaRPr>
          </a:p>
        </p:txBody>
      </p:sp>
      <p:sp>
        <p:nvSpPr>
          <p:cNvPr id="205" name="Google Shape;205;p33"/>
          <p:cNvSpPr txBox="1">
            <a:spLocks noGrp="1"/>
          </p:cNvSpPr>
          <p:nvPr>
            <p:ph type="body" idx="1"/>
          </p:nvPr>
        </p:nvSpPr>
        <p:spPr>
          <a:xfrm>
            <a:off x="838200" y="1325563"/>
            <a:ext cx="10515600" cy="2678100"/>
          </a:xfrm>
          <a:prstGeom prst="rect">
            <a:avLst/>
          </a:prstGeom>
          <a:noFill/>
          <a:ln>
            <a:noFill/>
          </a:ln>
        </p:spPr>
        <p:txBody>
          <a:bodyPr spcFirstLastPara="1" wrap="square" lIns="91425" tIns="45700" rIns="91425" bIns="45700" anchor="ctr" anchorCtr="0">
            <a:spAutoFit/>
          </a:bodyPr>
          <a:lstStyle/>
          <a:p>
            <a:pPr marL="0" lvl="0" indent="0" algn="just" rtl="0">
              <a:lnSpc>
                <a:spcPct val="115000"/>
              </a:lnSpc>
              <a:spcBef>
                <a:spcPts val="1200"/>
              </a:spcBef>
              <a:spcAft>
                <a:spcPts val="0"/>
              </a:spcAft>
              <a:buClr>
                <a:schemeClr val="dk1"/>
              </a:buClr>
              <a:buSzPts val="1100"/>
              <a:buFont typeface="Arial"/>
              <a:buNone/>
            </a:pPr>
            <a:r>
              <a:rPr lang="en-US" sz="2000">
                <a:latin typeface="Times New Roman"/>
                <a:ea typeface="Times New Roman"/>
                <a:cs typeface="Times New Roman"/>
                <a:sym typeface="Times New Roman"/>
              </a:rPr>
              <a:t>This project demonstrates the effectiveness of machine learning in understanding and analyzing user sentiments and engagement on social media platforms. By integrating advanced preprocessing techniques and ensemble algorithms, the system offers accurate sentiment classification and insightful visualizations. The comparative analysis of models provides a clear understanding of performance metrics, enabling informed decision-making. The system’s modularity and scalability make it a robust tool for sentiment analysis in a variety of contexts.</a:t>
            </a:r>
            <a:endParaRPr sz="2000">
              <a:latin typeface="Times New Roman"/>
              <a:ea typeface="Times New Roman"/>
              <a:cs typeface="Times New Roman"/>
              <a:sym typeface="Times New Roman"/>
            </a:endParaRPr>
          </a:p>
          <a:p>
            <a:pPr marL="0" marR="0" lvl="0" indent="0" algn="just" rtl="0">
              <a:lnSpc>
                <a:spcPct val="100000"/>
              </a:lnSpc>
              <a:spcBef>
                <a:spcPts val="1200"/>
              </a:spcBef>
              <a:spcAft>
                <a:spcPts val="0"/>
              </a:spcAft>
              <a:buClr>
                <a:schemeClr val="dk1"/>
              </a:buClr>
              <a:buSzPts val="2000"/>
              <a:buFont typeface="Times New Roman"/>
              <a:buNone/>
            </a:pPr>
            <a:endParaRPr sz="200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4"/>
          <p:cNvSpPr txBox="1">
            <a:spLocks noGrp="1"/>
          </p:cNvSpPr>
          <p:nvPr>
            <p:ph type="title"/>
          </p:nvPr>
        </p:nvSpPr>
        <p:spPr>
          <a:xfrm>
            <a:off x="838200" y="0"/>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115000"/>
              </a:lnSpc>
              <a:spcBef>
                <a:spcPts val="1200"/>
              </a:spcBef>
              <a:spcAft>
                <a:spcPts val="1200"/>
              </a:spcAft>
              <a:buClr>
                <a:schemeClr val="dk1"/>
              </a:buClr>
              <a:buSzPts val="1100"/>
              <a:buFont typeface="Arial"/>
              <a:buNone/>
            </a:pPr>
            <a:r>
              <a:rPr lang="en-US" sz="2400" b="1">
                <a:latin typeface="Times New Roman"/>
                <a:ea typeface="Times New Roman"/>
                <a:cs typeface="Times New Roman"/>
                <a:sym typeface="Times New Roman"/>
              </a:rPr>
              <a:t>REFERENCES</a:t>
            </a:r>
            <a:endParaRPr sz="2400" b="1">
              <a:latin typeface="Times New Roman"/>
              <a:ea typeface="Times New Roman"/>
              <a:cs typeface="Times New Roman"/>
              <a:sym typeface="Times New Roman"/>
            </a:endParaRPr>
          </a:p>
        </p:txBody>
      </p:sp>
      <p:sp>
        <p:nvSpPr>
          <p:cNvPr id="211" name="Google Shape;211;p34"/>
          <p:cNvSpPr txBox="1">
            <a:spLocks noGrp="1"/>
          </p:cNvSpPr>
          <p:nvPr>
            <p:ph type="body" idx="1"/>
          </p:nvPr>
        </p:nvSpPr>
        <p:spPr>
          <a:xfrm>
            <a:off x="838200" y="1325563"/>
            <a:ext cx="10515600" cy="5171700"/>
          </a:xfrm>
          <a:prstGeom prst="rect">
            <a:avLst/>
          </a:prstGeom>
          <a:noFill/>
          <a:ln>
            <a:noFill/>
          </a:ln>
        </p:spPr>
        <p:txBody>
          <a:bodyPr spcFirstLastPara="1" wrap="square" lIns="91425" tIns="45700" rIns="91425" bIns="45700" anchor="ctr" anchorCtr="0">
            <a:spAutoFit/>
          </a:bodyPr>
          <a:lstStyle/>
          <a:p>
            <a:pPr marL="457200" lvl="0" indent="-349250" algn="just" rtl="0">
              <a:lnSpc>
                <a:spcPct val="150000"/>
              </a:lnSpc>
              <a:spcBef>
                <a:spcPts val="1200"/>
              </a:spcBef>
              <a:spcAft>
                <a:spcPts val="0"/>
              </a:spcAft>
              <a:buSzPts val="1900"/>
              <a:buAutoNum type="arabicPeriod"/>
            </a:pPr>
            <a:r>
              <a:rPr lang="en-US" sz="2000">
                <a:latin typeface="Times New Roman"/>
                <a:ea typeface="Times New Roman"/>
                <a:cs typeface="Times New Roman"/>
                <a:sym typeface="Times New Roman"/>
              </a:rPr>
              <a:t>Sharma, R., &amp; Das, A. (2023). "Sentiment Analysis on Twitter Data using Ensemble Learning." </a:t>
            </a:r>
            <a:r>
              <a:rPr lang="en-US" sz="2000" i="1">
                <a:latin typeface="Times New Roman"/>
                <a:ea typeface="Times New Roman"/>
                <a:cs typeface="Times New Roman"/>
                <a:sym typeface="Times New Roman"/>
              </a:rPr>
              <a:t>IEEE Access</a:t>
            </a:r>
            <a:r>
              <a:rPr lang="en-US" sz="2000">
                <a:latin typeface="Times New Roman"/>
                <a:ea typeface="Times New Roman"/>
                <a:cs typeface="Times New Roman"/>
                <a:sym typeface="Times New Roman"/>
              </a:rPr>
              <a:t>, vol. 11, pp. 45329–45337.</a:t>
            </a:r>
            <a:endParaRPr sz="2000">
              <a:latin typeface="Times New Roman"/>
              <a:ea typeface="Times New Roman"/>
              <a:cs typeface="Times New Roman"/>
              <a:sym typeface="Times New Roman"/>
            </a:endParaRPr>
          </a:p>
          <a:p>
            <a:pPr marL="457200" lvl="0" indent="-349250" algn="just" rtl="0">
              <a:lnSpc>
                <a:spcPct val="150000"/>
              </a:lnSpc>
              <a:spcBef>
                <a:spcPts val="0"/>
              </a:spcBef>
              <a:spcAft>
                <a:spcPts val="0"/>
              </a:spcAft>
              <a:buSzPts val="1900"/>
              <a:buAutoNum type="arabicPeriod"/>
            </a:pPr>
            <a:r>
              <a:rPr lang="en-US" sz="2000">
                <a:latin typeface="Times New Roman"/>
                <a:ea typeface="Times New Roman"/>
                <a:cs typeface="Times New Roman"/>
                <a:sym typeface="Times New Roman"/>
              </a:rPr>
              <a:t>Liu, M., &amp; Wang, Z. (2023). "A Comparative Study on Text Vectorization Methods for Sentiment Classification." </a:t>
            </a:r>
            <a:r>
              <a:rPr lang="en-US" sz="2000" i="1">
                <a:latin typeface="Times New Roman"/>
                <a:ea typeface="Times New Roman"/>
                <a:cs typeface="Times New Roman"/>
                <a:sym typeface="Times New Roman"/>
              </a:rPr>
              <a:t>IEEE Transactions on Knowledge and Data Engineering</a:t>
            </a:r>
            <a:r>
              <a:rPr lang="en-US"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marL="457200" lvl="0" indent="-349250" algn="just" rtl="0">
              <a:lnSpc>
                <a:spcPct val="150000"/>
              </a:lnSpc>
              <a:spcBef>
                <a:spcPts val="0"/>
              </a:spcBef>
              <a:spcAft>
                <a:spcPts val="0"/>
              </a:spcAft>
              <a:buSzPts val="1900"/>
              <a:buAutoNum type="arabicPeriod"/>
            </a:pPr>
            <a:r>
              <a:rPr lang="en-US" sz="2000">
                <a:latin typeface="Times New Roman"/>
                <a:ea typeface="Times New Roman"/>
                <a:cs typeface="Times New Roman"/>
                <a:sym typeface="Times New Roman"/>
              </a:rPr>
              <a:t>Verma, K., &amp; Singh, D. (2024). "Hybrid Machine Learning Approach for Social Media Sentiment Analysis." </a:t>
            </a:r>
            <a:r>
              <a:rPr lang="en-US" sz="2000" i="1">
                <a:latin typeface="Times New Roman"/>
                <a:ea typeface="Times New Roman"/>
                <a:cs typeface="Times New Roman"/>
                <a:sym typeface="Times New Roman"/>
              </a:rPr>
              <a:t>IEEE Internet Computing</a:t>
            </a:r>
            <a:r>
              <a:rPr lang="en-US"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marL="457200" lvl="0" indent="-349250" algn="just" rtl="0">
              <a:lnSpc>
                <a:spcPct val="150000"/>
              </a:lnSpc>
              <a:spcBef>
                <a:spcPts val="0"/>
              </a:spcBef>
              <a:spcAft>
                <a:spcPts val="0"/>
              </a:spcAft>
              <a:buSzPts val="1900"/>
              <a:buAutoNum type="arabicPeriod"/>
            </a:pPr>
            <a:r>
              <a:rPr lang="en-US" sz="2000">
                <a:latin typeface="Times New Roman"/>
                <a:ea typeface="Times New Roman"/>
                <a:cs typeface="Times New Roman"/>
                <a:sym typeface="Times New Roman"/>
              </a:rPr>
              <a:t>Chen, X., &amp; Huang, J. (2023). "Evaluating TF-IDF and Word Embeddings in Social Sentiment Analysis." </a:t>
            </a:r>
            <a:r>
              <a:rPr lang="en-US" sz="2000" i="1">
                <a:latin typeface="Times New Roman"/>
                <a:ea typeface="Times New Roman"/>
                <a:cs typeface="Times New Roman"/>
                <a:sym typeface="Times New Roman"/>
              </a:rPr>
              <a:t>IEEE Transactions on Computational Social Systems</a:t>
            </a:r>
            <a:r>
              <a:rPr lang="en-US"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marL="457200" lvl="0" indent="-349250" algn="just" rtl="0">
              <a:lnSpc>
                <a:spcPct val="150000"/>
              </a:lnSpc>
              <a:spcBef>
                <a:spcPts val="0"/>
              </a:spcBef>
              <a:spcAft>
                <a:spcPts val="0"/>
              </a:spcAft>
              <a:buSzPts val="1900"/>
              <a:buAutoNum type="arabicPeriod"/>
            </a:pPr>
            <a:r>
              <a:rPr lang="en-US" sz="2000">
                <a:latin typeface="Times New Roman"/>
                <a:ea typeface="Times New Roman"/>
                <a:cs typeface="Times New Roman"/>
                <a:sym typeface="Times New Roman"/>
              </a:rPr>
              <a:t>Narayanan, S., &amp; Banerjee, S. (2024). "Real-Time Social Media Monitoring Using Ensemble Models." </a:t>
            </a:r>
            <a:r>
              <a:rPr lang="en-US" sz="2000" i="1">
                <a:latin typeface="Times New Roman"/>
                <a:ea typeface="Times New Roman"/>
                <a:cs typeface="Times New Roman"/>
                <a:sym typeface="Times New Roman"/>
              </a:rPr>
              <a:t>IEEE Systems Journal</a:t>
            </a:r>
            <a:r>
              <a:rPr lang="en-US"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marL="0" marR="0" lvl="0" indent="0" algn="just" rtl="0">
              <a:lnSpc>
                <a:spcPct val="100000"/>
              </a:lnSpc>
              <a:spcBef>
                <a:spcPts val="1200"/>
              </a:spcBef>
              <a:spcAft>
                <a:spcPts val="0"/>
              </a:spcAft>
              <a:buClr>
                <a:schemeClr val="dk1"/>
              </a:buClr>
              <a:buSzPts val="2000"/>
              <a:buFont typeface="Times New Roman"/>
              <a:buNone/>
            </a:pPr>
            <a:endParaRPr sz="200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5"/>
          <p:cNvSpPr txBox="1"/>
          <p:nvPr/>
        </p:nvSpPr>
        <p:spPr>
          <a:xfrm>
            <a:off x="1160106" y="966787"/>
            <a:ext cx="9871788" cy="49244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    </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4400"/>
              <a:buFont typeface="Times New Roman"/>
              <a:buNone/>
            </a:pPr>
            <a:r>
              <a:rPr lang="en-US" sz="4400" b="0" i="0" u="none" strike="noStrike" cap="none">
                <a:solidFill>
                  <a:schemeClr val="dk1"/>
                </a:solidFill>
                <a:latin typeface="Times New Roman"/>
                <a:ea typeface="Times New Roman"/>
                <a:cs typeface="Times New Roman"/>
                <a:sym typeface="Times New Roman"/>
              </a:rPr>
              <a:t>Any Queries?</a:t>
            </a: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6"/>
          <p:cNvSpPr txBox="1"/>
          <p:nvPr/>
        </p:nvSpPr>
        <p:spPr>
          <a:xfrm>
            <a:off x="1556657" y="936010"/>
            <a:ext cx="9078686" cy="49859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4800"/>
              <a:buFont typeface="Times New Roman"/>
              <a:buNone/>
            </a:pPr>
            <a:r>
              <a:rPr lang="en-US" sz="4800" b="0" i="0" u="none" strike="noStrike" cap="none">
                <a:solidFill>
                  <a:schemeClr val="dk1"/>
                </a:solidFill>
                <a:latin typeface="Times New Roman"/>
                <a:ea typeface="Times New Roman"/>
                <a:cs typeface="Times New Roman"/>
                <a:sym typeface="Times New Roman"/>
              </a:rPr>
              <a:t>THANK YOU</a:t>
            </a: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1864</Words>
  <Application>Microsoft Office PowerPoint</Application>
  <PresentationFormat>Widescreen</PresentationFormat>
  <Paragraphs>148</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Times New Roman</vt:lpstr>
      <vt:lpstr>Office Theme</vt:lpstr>
      <vt:lpstr>PowerPoint Presentation</vt:lpstr>
      <vt:lpstr>CONTENT</vt:lpstr>
      <vt:lpstr>ABSTRACT</vt:lpstr>
      <vt:lpstr>INTRODUCTION</vt:lpstr>
      <vt:lpstr>LITERATURE SURVEY</vt:lpstr>
      <vt:lpstr>PowerPoint Presentation</vt:lpstr>
      <vt:lpstr>PowerPoint Presentation</vt:lpstr>
      <vt:lpstr>PROBLEM STATEMENT</vt:lpstr>
      <vt:lpstr>EXISTING SYSTEM</vt:lpstr>
      <vt:lpstr>PROPOSED SYSTEM</vt:lpstr>
      <vt:lpstr>METHODOLOGY</vt:lpstr>
      <vt:lpstr>PowerPoint Presentation</vt:lpstr>
      <vt:lpstr>SYSTEM DESIGN</vt:lpstr>
      <vt:lpstr>SYSTEM REQUIREMENTS</vt:lpstr>
      <vt:lpstr>RESULT</vt:lpstr>
      <vt:lpstr>PowerPoint Presentation</vt:lpstr>
      <vt:lpstr>PowerPoint Presentation</vt:lpstr>
      <vt:lpstr>PowerPoint Presentation</vt:lpstr>
      <vt:lpstr>FUTURE ENHANCEMENT</vt:lpstr>
      <vt:lpstr>APPLICATIONS</vt:lpstr>
      <vt:lpstr>CONCLUSION</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Abhiroop Reddy</cp:lastModifiedBy>
  <cp:revision>1</cp:revision>
  <dcterms:modified xsi:type="dcterms:W3CDTF">2025-05-23T13:58:03Z</dcterms:modified>
</cp:coreProperties>
</file>